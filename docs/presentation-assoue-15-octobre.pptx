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50b0dcff-2e2e-a9db-a670-f67445f9ab92}">
          <p14:sldIdLst>
            <p14:sldId id="256"/>
          </p14:sldIdLst>
        </p14:section>
        <p14:section name="Projet" id="{c746b042-015f-17a4-4f1c-2222a39a7793}">
          <p14:sldIdLst>
            <p14:sldId id="257"/>
            <p14:sldId id="258"/>
            <p14:sldId id="259"/>
          </p14:sldIdLst>
        </p14:section>
        <p14:section name="Réalisation" id="{631788b5-ff4f-b82c-78b2-8f3b1762a740}">
          <p14:sldIdLst>
            <p14:sldId id="260"/>
            <p14:sldId id="261"/>
            <p14:sldId id="262"/>
          </p14:sldIdLst>
        </p14:section>
        <p14:section name="Conclusion" id="{c404044f-6bc0-aa6e-6cbc-123ca814f930}">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 AS'SOUÉ est une entreprise sociale burkinabè qui transforme des déchets plastiques et des pneus en objets. Le projet : une plateforme web qui relie la collecte sur le terrain, le stock de matière et la vente en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piliers. Pour cette livraison de 4 semaines avec 4 développeurs, on a codé la collecte et la vente, plus le stock qui les relie. La formation est modélisée mais volontairement hors périmètre de code : ce sera l'itération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rôles conformes au backend : CLIENT, COLLECTEUR, ADMIN. Le visiteur non connecté peut déjà parcourir le catalogue et remplir un panier. Les comptes collecteur et gestion sont créés uniquement par la gestion. Pages publiques en plus : Notre impact et Communauté.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fil conducteur de la démo. Points clés : la déclaration est idempotente (pas de doublon quand la synchronisation rejoue), une collecte ne peut avancer que dans un sens, et le paiement est revalidé auprès de PayDunya avant de confirmer la commande.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Choix assumé : pas de microservices pour un projet de 4 semaines. Chaque module suit controller, service, repository. Le frontend parle à l'API en REST avec un jeton JWT. Le schéma de base est entièrement versionné par Flyway.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design system est la source de vérité de chaque écran. Palette vert vif inspirée de la maquette POESAM, ajustée pour le contraste : le vert vif ne porte jamais de texte, l'orange est réservé au bouton d'achat. Logo officiel partout, sur plaque blanche sur fond sombre.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Chiffres issus du dépôt au 12 octobre. La CI exécute à chaque pull request les tests backend, le build de production, les tests unitaires et les scénarios E2E. Les zones authentification et paiement passent systématiquement en revue humaine.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Récapituler ce qui fonctionne aujourd'hui, puis les points ouverts : la validation PayDunya en réel, les vraies photos, l'unité de mesure des collectes à confirmer avec AS'SOUÉ, et la mise en production. Enchaîner sur la démo : catalogue, commande, déclaration de collecte hors ligne, validation côté 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6766560" cy="118872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858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ph idx="101" type="body" hasCustomPrompt="1"/>
          </p:nvPr>
        </p:nvSpPr>
        <p:spPr>
          <a:xfrm>
            <a:off x="548640" y="1051560"/>
            <a:ext cx="11064240" cy="45720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pic>
        <p:nvPicPr>
          <p:cNvPr id="4" name="Image 0" descr="C:\Users\HP OMEN\OneDrive\Desktop\assoue-platform\docs\logo_ASOUE_African_Style_HD.png">    </p:cNvPr>
          <p:cNvPicPr>
            <a:picLocks noChangeAspect="1"/>
          </p:cNvPicPr>
          <p:nvPr/>
        </p:nvPicPr>
        <p:blipFill>
          <a:blip r:embed="rId1"/>
          <a:stretch>
            <a:fillRect/>
          </a:stretch>
        </p:blipFill>
        <p:spPr>
          <a:xfrm>
            <a:off x="548640" y="6327648"/>
            <a:ext cx="886968" cy="329184"/>
          </a:xfrm>
          <a:prstGeom prst="rect">
            <a:avLst/>
          </a:prstGeom>
        </p:spPr>
      </p:pic>
      <p:sp>
        <p:nvSpPr>
          <p:cNvPr id="5" name="Text 0"/>
          <p:cNvSpPr/>
          <p:nvPr/>
        </p:nvSpPr>
        <p:spPr>
          <a:xfrm>
            <a:off x="1600200" y="6327648"/>
            <a:ext cx="5486400" cy="329184"/>
          </a:xfrm>
          <a:prstGeom prst="rect">
            <a:avLst/>
          </a:prstGeom>
          <a:noFill/>
          <a:ln/>
        </p:spPr>
        <p:txBody>
          <a:bodyPr wrap="square" lIns="0" tIns="0" rIns="0" bIns="0" rtlCol="0" anchor="ctr"/>
          <a:lstStyle/>
          <a:p>
            <a:pPr indent="0" marL="0">
              <a:buNone/>
            </a:pPr>
            <a:r>
              <a:rPr lang="en-US" sz="1000" dirty="0">
                <a:solidFill>
                  <a:schemeClr val="accent6"/>
                </a:solidFill>
              </a:rPr>
              <a:t>Présentation du projet · 15 octobre 2026</a:t>
            </a:r>
            <a:endParaRPr lang="en-US" sz="1000" dirty="0"/>
          </a:p>
        </p:txBody>
      </p:sp>
      <p:sp>
        <p:nvSpPr>
          <p:cNvPr id="25" name="Slide Number Placeholder 0"/>
          <p:cNvSpPr>
            <a:spLocks noGrp="1"/>
          </p:cNvSpPr>
          <p:nvPr>
            <p:ph type="sldNum" sz="quarter" idx="4294967295"/>
          </p:nvPr>
        </p:nvSpPr>
        <p:spPr>
          <a:xfrm>
            <a:off x="11155680" y="6327648"/>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slideLayout" Target="../slideLayouts/slideLayout3.xml"/><Relationship Id="rId1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2.xml"/><Relationship Id="rId1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laque-logo"/>
          <p:cNvSpPr/>
          <p:nvPr/>
        </p:nvSpPr>
        <p:spPr>
          <a:xfrm>
            <a:off x="640080" y="685800"/>
            <a:ext cx="3291840" cy="1325880"/>
          </a:xfrm>
          <a:prstGeom prst="roundRect">
            <a:avLst>
              <a:gd name="adj" fmla="val 8276"/>
            </a:avLst>
          </a:prstGeom>
          <a:solidFill>
            <a:schemeClr val="bg1"/>
          </a:solidFill>
          <a:ln/>
        </p:spPr>
      </p:sp>
      <p:pic>
        <p:nvPicPr>
          <p:cNvPr id="3" name="Image 0" descr="C:\Users\HP OMEN\OneDrive\Desktop\assoue-platform\docs\logo_ASOUE_African_Style_HD.png">    </p:cNvPr>
          <p:cNvPicPr>
            <a:picLocks noChangeAspect="1"/>
          </p:cNvPicPr>
          <p:nvPr/>
        </p:nvPicPr>
        <p:blipFill>
          <a:blip r:embed="rId1"/>
          <a:stretch>
            <a:fillRect/>
          </a:stretch>
        </p:blipFill>
        <p:spPr>
          <a:xfrm>
            <a:off x="868680" y="822960"/>
            <a:ext cx="2834640" cy="1051560"/>
          </a:xfrm>
          <a:prstGeom prst="rect">
            <a:avLst/>
          </a:prstGeom>
        </p:spPr>
      </p:pic>
      <p:sp>
        <p:nvSpPr>
          <p:cNvPr id="4" name="Text 0"/>
          <p:cNvSpPr/>
          <p:nvPr>
            <p:ph idx="100" type="title" hasCustomPrompt="1"/>
          </p:nvPr>
        </p:nvSpPr>
        <p:spPr>
          <a:xfrm>
            <a:off x="640080" y="2468880"/>
            <a:ext cx="6766560" cy="1188720"/>
          </a:xfrm>
          <a:prstGeom prst="rect">
            <a:avLst/>
          </a:prstGeom>
          <a:noFill/>
          <a:ln/>
        </p:spPr>
        <p:txBody>
          <a:bodyPr wrap="square" lIns="0" tIns="0" rIns="0" bIns="0" rtlCol="0" anchor="t"/>
          <a:lstStyle/>
          <a:p>
            <a:pPr algn="l" indent="0" marL="0">
              <a:buNone/>
            </a:pPr>
            <a:r>
              <a:rPr lang="en-US" sz="4800" b="1" dirty="0">
                <a:solidFill>
                  <a:schemeClr val="bg1"/>
                </a:solidFill>
              </a:rPr>
              <a:t>Plateforme AS'SOUÉ</a:t>
            </a:r>
            <a:endParaRPr lang="en-US" sz="4800" dirty="0"/>
          </a:p>
        </p:txBody>
      </p:sp>
      <p:sp>
        <p:nvSpPr>
          <p:cNvPr id="5" name="Text 2"/>
          <p:cNvSpPr txBox="1"/>
          <p:nvPr/>
        </p:nvSpPr>
        <p:spPr>
          <a:xfrm>
            <a:off x="640080" y="3611880"/>
            <a:ext cx="6583680" cy="822960"/>
          </a:xfrm>
          <a:prstGeom prst="rect">
            <a:avLst/>
          </a:prstGeom>
          <a:noFill/>
          <a:ln/>
        </p:spPr>
        <p:txBody>
          <a:bodyPr wrap="square" lIns="0" tIns="0" rIns="0" bIns="0" rtlCol="0" anchor="ctr"/>
          <a:lstStyle/>
          <a:p>
            <a:pPr indent="0" marL="0">
              <a:buNone/>
            </a:pPr>
            <a:r>
              <a:rPr lang="en-US" sz="2200" dirty="0">
                <a:solidFill>
                  <a:schemeClr val="bg1"/>
                </a:solidFill>
              </a:rPr>
              <a:t>Collecter, transformer, vendre : la traçabilité du déchet jusqu'à l'objet</a:t>
            </a:r>
            <a:endParaRPr lang="en-US" sz="2200" dirty="0"/>
          </a:p>
        </p:txBody>
      </p:sp>
      <p:sp>
        <p:nvSpPr>
          <p:cNvPr id="6" name="Text 3"/>
          <p:cNvSpPr txBox="1"/>
          <p:nvPr/>
        </p:nvSpPr>
        <p:spPr>
          <a:xfrm>
            <a:off x="640080" y="4480560"/>
            <a:ext cx="6583680" cy="411480"/>
          </a:xfrm>
          <a:prstGeom prst="rect">
            <a:avLst/>
          </a:prstGeom>
          <a:noFill/>
          <a:ln/>
        </p:spPr>
        <p:txBody>
          <a:bodyPr wrap="square" lIns="0" tIns="0" rIns="0" bIns="0" rtlCol="0" anchor="ctr"/>
          <a:lstStyle/>
          <a:p>
            <a:pPr indent="0" marL="0">
              <a:buNone/>
            </a:pPr>
            <a:r>
              <a:rPr lang="en-US" sz="1800" i="1" dirty="0">
                <a:solidFill>
                  <a:schemeClr val="accent2"/>
                </a:solidFill>
              </a:rPr>
              <a:t>L'art du recyclage pour un avenir durable</a:t>
            </a:r>
            <a:endParaRPr lang="en-US" sz="1800" dirty="0"/>
          </a:p>
        </p:txBody>
      </p:sp>
      <p:sp>
        <p:nvSpPr>
          <p:cNvPr id="7" name="Text 4"/>
          <p:cNvSpPr txBox="1"/>
          <p:nvPr/>
        </p:nvSpPr>
        <p:spPr>
          <a:xfrm>
            <a:off x="640080" y="5943600"/>
            <a:ext cx="7315200" cy="365760"/>
          </a:xfrm>
          <a:prstGeom prst="rect">
            <a:avLst/>
          </a:prstGeom>
          <a:noFill/>
          <a:ln/>
        </p:spPr>
        <p:txBody>
          <a:bodyPr wrap="square" lIns="0" tIns="0" rIns="0" bIns="0" rtlCol="0" anchor="ctr"/>
          <a:lstStyle/>
          <a:p>
            <a:pPr indent="0" marL="0">
              <a:buNone/>
            </a:pPr>
            <a:r>
              <a:rPr lang="en-US" sz="1400" dirty="0">
                <a:solidFill>
                  <a:srgbClr val="CBD5E1"/>
                </a:solidFill>
              </a:rPr>
              <a:t>Présentation du projet · 15 octobre 2026 · Équipe AS'Soué devteam</a:t>
            </a:r>
            <a:endParaRPr lang="en-US" sz="1400" dirty="0"/>
          </a:p>
        </p:txBody>
      </p:sp>
      <p:sp>
        <p:nvSpPr>
          <p:cNvPr id="8" name="badge-LuRecycle"/>
          <p:cNvSpPr/>
          <p:nvPr/>
        </p:nvSpPr>
        <p:spPr>
          <a:xfrm>
            <a:off x="8412480" y="868680"/>
            <a:ext cx="1097280" cy="1097280"/>
          </a:xfrm>
          <a:prstGeom prst="ellipse">
            <a:avLst/>
          </a:prstGeom>
          <a:solidFill>
            <a:schemeClr val="accent1"/>
          </a:solidFill>
          <a:ln/>
        </p:spPr>
      </p:sp>
      <p:pic>
        <p:nvPicPr>
          <p:cNvPr id="9" name="Image 1" descr="preencoded.png">    </p:cNvPr>
          <p:cNvPicPr>
            <a:picLocks noChangeAspect="1"/>
          </p:cNvPicPr>
          <p:nvPr/>
        </p:nvPicPr>
        <p:blipFill>
          <a:blip r:embed="rId2"/>
          <a:stretch>
            <a:fillRect/>
          </a:stretch>
        </p:blipFill>
        <p:spPr>
          <a:xfrm>
            <a:off x="8686800" y="1143000"/>
            <a:ext cx="548640" cy="548640"/>
          </a:xfrm>
          <a:prstGeom prst="rect">
            <a:avLst/>
          </a:prstGeom>
        </p:spPr>
      </p:pic>
      <p:sp>
        <p:nvSpPr>
          <p:cNvPr id="10" name="Text 6"/>
          <p:cNvSpPr txBox="1"/>
          <p:nvPr/>
        </p:nvSpPr>
        <p:spPr>
          <a:xfrm>
            <a:off x="9738360" y="1033272"/>
            <a:ext cx="2194560" cy="411480"/>
          </a:xfrm>
          <a:prstGeom prst="rect">
            <a:avLst/>
          </a:prstGeom>
          <a:noFill/>
          <a:ln/>
        </p:spPr>
        <p:txBody>
          <a:bodyPr wrap="square" lIns="0" tIns="0" rIns="0" bIns="0" rtlCol="0" anchor="ctr"/>
          <a:lstStyle/>
          <a:p>
            <a:pPr indent="0" marL="0">
              <a:buNone/>
            </a:pPr>
            <a:r>
              <a:rPr lang="en-US" sz="2200" b="1" dirty="0">
                <a:solidFill>
                  <a:schemeClr val="bg1"/>
                </a:solidFill>
              </a:rPr>
              <a:t>Collecte</a:t>
            </a:r>
            <a:endParaRPr lang="en-US" sz="2200" dirty="0"/>
          </a:p>
        </p:txBody>
      </p:sp>
      <p:sp>
        <p:nvSpPr>
          <p:cNvPr id="11" name="Text 7"/>
          <p:cNvSpPr txBox="1"/>
          <p:nvPr/>
        </p:nvSpPr>
        <p:spPr>
          <a:xfrm>
            <a:off x="9738360" y="1444752"/>
            <a:ext cx="2194560" cy="365760"/>
          </a:xfrm>
          <a:prstGeom prst="rect">
            <a:avLst/>
          </a:prstGeom>
          <a:noFill/>
          <a:ln/>
        </p:spPr>
        <p:txBody>
          <a:bodyPr wrap="square" lIns="0" tIns="0" rIns="0" bIns="0" rtlCol="0" anchor="ctr"/>
          <a:lstStyle/>
          <a:p>
            <a:pPr indent="0" marL="0">
              <a:buNone/>
            </a:pPr>
            <a:r>
              <a:rPr lang="en-US" sz="1400" dirty="0">
                <a:solidFill>
                  <a:srgbClr val="CBD5E1"/>
                </a:solidFill>
              </a:rPr>
              <a:t>plastique et pneus</a:t>
            </a:r>
            <a:endParaRPr lang="en-US" sz="1400" dirty="0"/>
          </a:p>
        </p:txBody>
      </p:sp>
      <p:sp>
        <p:nvSpPr>
          <p:cNvPr id="12" name="Shape 8"/>
          <p:cNvSpPr/>
          <p:nvPr/>
        </p:nvSpPr>
        <p:spPr>
          <a:xfrm>
            <a:off x="8961120" y="2057400"/>
            <a:ext cx="0" cy="502920"/>
          </a:xfrm>
          <a:prstGeom prst="line">
            <a:avLst/>
          </a:prstGeom>
          <a:noFill/>
          <a:ln w="25400">
            <a:solidFill>
              <a:srgbClr val="22C55E"/>
            </a:solidFill>
            <a:prstDash val="solid"/>
            <a:tailEnd type="triangle"/>
          </a:ln>
        </p:spPr>
      </p:sp>
      <p:sp>
        <p:nvSpPr>
          <p:cNvPr id="13" name="badge-LuWarehouse"/>
          <p:cNvSpPr/>
          <p:nvPr/>
        </p:nvSpPr>
        <p:spPr>
          <a:xfrm>
            <a:off x="8412480" y="2651760"/>
            <a:ext cx="1097280" cy="1097280"/>
          </a:xfrm>
          <a:prstGeom prst="ellipse">
            <a:avLst/>
          </a:prstGeom>
          <a:solidFill>
            <a:schemeClr val="accent1"/>
          </a:solidFill>
          <a:ln/>
        </p:spPr>
      </p:sp>
      <p:pic>
        <p:nvPicPr>
          <p:cNvPr id="14" name="Image 2" descr="preencoded.png">    </p:cNvPr>
          <p:cNvPicPr>
            <a:picLocks noChangeAspect="1"/>
          </p:cNvPicPr>
          <p:nvPr/>
        </p:nvPicPr>
        <p:blipFill>
          <a:blip r:embed="rId3"/>
          <a:stretch>
            <a:fillRect/>
          </a:stretch>
        </p:blipFill>
        <p:spPr>
          <a:xfrm>
            <a:off x="8686800" y="2926080"/>
            <a:ext cx="548640" cy="548640"/>
          </a:xfrm>
          <a:prstGeom prst="rect">
            <a:avLst/>
          </a:prstGeom>
        </p:spPr>
      </p:pic>
      <p:sp>
        <p:nvSpPr>
          <p:cNvPr id="15" name="Text 10"/>
          <p:cNvSpPr txBox="1"/>
          <p:nvPr/>
        </p:nvSpPr>
        <p:spPr>
          <a:xfrm>
            <a:off x="9738360" y="2816352"/>
            <a:ext cx="2194560" cy="411480"/>
          </a:xfrm>
          <a:prstGeom prst="rect">
            <a:avLst/>
          </a:prstGeom>
          <a:noFill/>
          <a:ln/>
        </p:spPr>
        <p:txBody>
          <a:bodyPr wrap="square" lIns="0" tIns="0" rIns="0" bIns="0" rtlCol="0" anchor="ctr"/>
          <a:lstStyle/>
          <a:p>
            <a:pPr indent="0" marL="0">
              <a:buNone/>
            </a:pPr>
            <a:r>
              <a:rPr lang="en-US" sz="2200" b="1" dirty="0">
                <a:solidFill>
                  <a:schemeClr val="bg1"/>
                </a:solidFill>
              </a:rPr>
              <a:t>Stock</a:t>
            </a:r>
            <a:endParaRPr lang="en-US" sz="2200" dirty="0"/>
          </a:p>
        </p:txBody>
      </p:sp>
      <p:sp>
        <p:nvSpPr>
          <p:cNvPr id="16" name="Text 11"/>
          <p:cNvSpPr txBox="1"/>
          <p:nvPr/>
        </p:nvSpPr>
        <p:spPr>
          <a:xfrm>
            <a:off x="9738360" y="3227832"/>
            <a:ext cx="2194560" cy="365760"/>
          </a:xfrm>
          <a:prstGeom prst="rect">
            <a:avLst/>
          </a:prstGeom>
          <a:noFill/>
          <a:ln/>
        </p:spPr>
        <p:txBody>
          <a:bodyPr wrap="square" lIns="0" tIns="0" rIns="0" bIns="0" rtlCol="0" anchor="ctr"/>
          <a:lstStyle/>
          <a:p>
            <a:pPr indent="0" marL="0">
              <a:buNone/>
            </a:pPr>
            <a:r>
              <a:rPr lang="en-US" sz="1400" dirty="0">
                <a:solidFill>
                  <a:srgbClr val="CBD5E1"/>
                </a:solidFill>
              </a:rPr>
              <a:t>matière première</a:t>
            </a:r>
            <a:endParaRPr lang="en-US" sz="1400" dirty="0"/>
          </a:p>
        </p:txBody>
      </p:sp>
      <p:sp>
        <p:nvSpPr>
          <p:cNvPr id="17" name="Shape 12"/>
          <p:cNvSpPr/>
          <p:nvPr/>
        </p:nvSpPr>
        <p:spPr>
          <a:xfrm>
            <a:off x="8961120" y="3840480"/>
            <a:ext cx="0" cy="502920"/>
          </a:xfrm>
          <a:prstGeom prst="line">
            <a:avLst/>
          </a:prstGeom>
          <a:noFill/>
          <a:ln w="25400">
            <a:solidFill>
              <a:srgbClr val="22C55E"/>
            </a:solidFill>
            <a:prstDash val="solid"/>
            <a:tailEnd type="triangle"/>
          </a:ln>
        </p:spPr>
      </p:sp>
      <p:sp>
        <p:nvSpPr>
          <p:cNvPr id="18" name="badge-LuShoppingBag"/>
          <p:cNvSpPr/>
          <p:nvPr/>
        </p:nvSpPr>
        <p:spPr>
          <a:xfrm>
            <a:off x="8412480" y="4434840"/>
            <a:ext cx="1097280" cy="1097280"/>
          </a:xfrm>
          <a:prstGeom prst="ellipse">
            <a:avLst/>
          </a:prstGeom>
          <a:solidFill>
            <a:schemeClr val="accent1"/>
          </a:solidFill>
          <a:ln/>
        </p:spPr>
      </p:sp>
      <p:pic>
        <p:nvPicPr>
          <p:cNvPr id="19" name="Image 3" descr="preencoded.png">    </p:cNvPr>
          <p:cNvPicPr>
            <a:picLocks noChangeAspect="1"/>
          </p:cNvPicPr>
          <p:nvPr/>
        </p:nvPicPr>
        <p:blipFill>
          <a:blip r:embed="rId4"/>
          <a:stretch>
            <a:fillRect/>
          </a:stretch>
        </p:blipFill>
        <p:spPr>
          <a:xfrm>
            <a:off x="8686800" y="4709160"/>
            <a:ext cx="548640" cy="548640"/>
          </a:xfrm>
          <a:prstGeom prst="rect">
            <a:avLst/>
          </a:prstGeom>
        </p:spPr>
      </p:pic>
      <p:sp>
        <p:nvSpPr>
          <p:cNvPr id="20" name="Text 14"/>
          <p:cNvSpPr txBox="1"/>
          <p:nvPr/>
        </p:nvSpPr>
        <p:spPr>
          <a:xfrm>
            <a:off x="9738360" y="4599432"/>
            <a:ext cx="2194560" cy="411480"/>
          </a:xfrm>
          <a:prstGeom prst="rect">
            <a:avLst/>
          </a:prstGeom>
          <a:noFill/>
          <a:ln/>
        </p:spPr>
        <p:txBody>
          <a:bodyPr wrap="square" lIns="0" tIns="0" rIns="0" bIns="0" rtlCol="0" anchor="ctr"/>
          <a:lstStyle/>
          <a:p>
            <a:pPr indent="0" marL="0">
              <a:buNone/>
            </a:pPr>
            <a:r>
              <a:rPr lang="en-US" sz="2200" b="1" dirty="0">
                <a:solidFill>
                  <a:schemeClr val="bg1"/>
                </a:solidFill>
              </a:rPr>
              <a:t>Vente</a:t>
            </a:r>
            <a:endParaRPr lang="en-US" sz="2200" dirty="0"/>
          </a:p>
        </p:txBody>
      </p:sp>
      <p:sp>
        <p:nvSpPr>
          <p:cNvPr id="21" name="Text 15"/>
          <p:cNvSpPr txBox="1"/>
          <p:nvPr/>
        </p:nvSpPr>
        <p:spPr>
          <a:xfrm>
            <a:off x="9738360" y="5010912"/>
            <a:ext cx="2194560" cy="365760"/>
          </a:xfrm>
          <a:prstGeom prst="rect">
            <a:avLst/>
          </a:prstGeom>
          <a:noFill/>
          <a:ln/>
        </p:spPr>
        <p:txBody>
          <a:bodyPr wrap="square" lIns="0" tIns="0" rIns="0" bIns="0" rtlCol="0" anchor="ctr"/>
          <a:lstStyle/>
          <a:p>
            <a:pPr indent="0" marL="0">
              <a:buNone/>
            </a:pPr>
            <a:r>
              <a:rPr lang="en-US" sz="1400" dirty="0">
                <a:solidFill>
                  <a:srgbClr val="CBD5E1"/>
                </a:solidFill>
              </a:rPr>
              <a:t>objets valorisés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85800"/>
          </a:xfrm>
          <a:prstGeom prst="rect">
            <a:avLst/>
          </a:prstGeom>
          <a:noFill/>
          <a:ln/>
        </p:spPr>
        <p:txBody>
          <a:bodyPr wrap="square" lIns="0" tIns="0" rIns="0" bIns="0" rtlCol="0" anchor="ctr"/>
          <a:lstStyle/>
          <a:p>
            <a:pPr algn="l" indent="0" marL="0">
              <a:buNone/>
            </a:pPr>
            <a:r>
              <a:rPr lang="en-US" sz="3600" b="1" dirty="0">
                <a:solidFill>
                  <a:schemeClr val="tx1"/>
                </a:solidFill>
              </a:rPr>
              <a:t>Une entreprise sociale, trois piliers</a:t>
            </a:r>
            <a:endParaRPr lang="en-US" sz="3600" dirty="0"/>
          </a:p>
        </p:txBody>
      </p:sp>
      <p:sp>
        <p:nvSpPr>
          <p:cNvPr id="3" name="Text 0"/>
          <p:cNvSpPr/>
          <p:nvPr>
            <p:ph idx="101" type="body" hasCustomPrompt="1"/>
          </p:nvPr>
        </p:nvSpPr>
        <p:spPr>
          <a:xfrm>
            <a:off x="548640" y="1051560"/>
            <a:ext cx="11064240" cy="457200"/>
          </a:xfrm>
          <a:prstGeom prst="rect">
            <a:avLst/>
          </a:prstGeom>
          <a:noFill/>
          <a:ln/>
        </p:spPr>
        <p:txBody>
          <a:bodyPr wrap="square" lIns="0" tIns="0" rIns="0" bIns="0" rtlCol="0" anchor="t"/>
          <a:lstStyle/>
          <a:p>
            <a:pPr indent="0" marL="0">
              <a:buNone/>
            </a:pPr>
            <a:r>
              <a:rPr lang="en-US" sz="1800" dirty="0">
                <a:solidFill>
                  <a:schemeClr val="accent6"/>
                </a:solidFill>
              </a:rPr>
              <a:t>Objectif de l'itération : relier collecte, stock et vente dans un seul outil, utilisable sur smartphone d'entrée de gamme</a:t>
            </a:r>
            <a:endParaRPr lang="en-US" sz="1800" dirty="0"/>
          </a:p>
        </p:txBody>
      </p:sp>
      <p:sp>
        <p:nvSpPr>
          <p:cNvPr id="4" name="pilier-0"/>
          <p:cNvSpPr/>
          <p:nvPr/>
        </p:nvSpPr>
        <p:spPr>
          <a:xfrm>
            <a:off x="548640" y="1965960"/>
            <a:ext cx="3474720" cy="3977640"/>
          </a:xfrm>
          <a:prstGeom prst="roundRect">
            <a:avLst>
              <a:gd name="adj" fmla="val 3158"/>
            </a:avLst>
          </a:prstGeom>
          <a:solidFill>
            <a:schemeClr val="bg2"/>
          </a:solidFill>
          <a:ln/>
        </p:spPr>
      </p:sp>
      <p:sp>
        <p:nvSpPr>
          <p:cNvPr id="5" name="badge-LuRecycle"/>
          <p:cNvSpPr/>
          <p:nvPr/>
        </p:nvSpPr>
        <p:spPr>
          <a:xfrm>
            <a:off x="868680" y="2286000"/>
            <a:ext cx="868680" cy="86868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1085850" y="2503170"/>
            <a:ext cx="434340" cy="434340"/>
          </a:xfrm>
          <a:prstGeom prst="rect">
            <a:avLst/>
          </a:prstGeom>
        </p:spPr>
      </p:pic>
      <p:sp>
        <p:nvSpPr>
          <p:cNvPr id="7" name="Text 4"/>
          <p:cNvSpPr txBox="1"/>
          <p:nvPr/>
        </p:nvSpPr>
        <p:spPr>
          <a:xfrm>
            <a:off x="868680" y="3383280"/>
            <a:ext cx="2834640" cy="457200"/>
          </a:xfrm>
          <a:prstGeom prst="rect">
            <a:avLst/>
          </a:prstGeom>
          <a:noFill/>
          <a:ln/>
        </p:spPr>
        <p:txBody>
          <a:bodyPr wrap="square" lIns="0" tIns="0" rIns="0" bIns="0" rtlCol="0" anchor="ctr"/>
          <a:lstStyle/>
          <a:p>
            <a:pPr indent="0" marL="0">
              <a:buNone/>
            </a:pPr>
            <a:r>
              <a:rPr lang="en-US" sz="2200" b="1" dirty="0">
                <a:solidFill>
                  <a:schemeClr val="tx1"/>
                </a:solidFill>
              </a:rPr>
              <a:t>Collecte tracée</a:t>
            </a:r>
            <a:endParaRPr lang="en-US" sz="2200" dirty="0"/>
          </a:p>
        </p:txBody>
      </p:sp>
      <p:sp>
        <p:nvSpPr>
          <p:cNvPr id="8" name="Text 5"/>
          <p:cNvSpPr txBox="1"/>
          <p:nvPr/>
        </p:nvSpPr>
        <p:spPr>
          <a:xfrm>
            <a:off x="868680" y="3886200"/>
            <a:ext cx="2834640" cy="1234440"/>
          </a:xfrm>
          <a:prstGeom prst="rect">
            <a:avLst/>
          </a:prstGeom>
          <a:noFill/>
          <a:ln/>
        </p:spPr>
        <p:txBody>
          <a:bodyPr wrap="square" lIns="0" tIns="0" rIns="0" bIns="0" rtlCol="0" anchor="t"/>
          <a:lstStyle/>
          <a:p>
            <a:pPr indent="0" marL="0">
              <a:buNone/>
            </a:pPr>
            <a:r>
              <a:rPr lang="en-US" sz="1500" dirty="0">
                <a:solidFill>
                  <a:schemeClr val="tx1"/>
                </a:solidFill>
              </a:rPr>
              <a:t>Des collecteurs terrain déclarent les déchets récupérés (plastique, pneus), même sans réseau.</a:t>
            </a:r>
            <a:endParaRPr lang="en-US" sz="1500" dirty="0"/>
          </a:p>
        </p:txBody>
      </p:sp>
      <p:sp>
        <p:nvSpPr>
          <p:cNvPr id="9" name="Shape 6"/>
          <p:cNvSpPr/>
          <p:nvPr/>
        </p:nvSpPr>
        <p:spPr>
          <a:xfrm>
            <a:off x="868680" y="5303520"/>
            <a:ext cx="1371600" cy="365760"/>
          </a:xfrm>
          <a:prstGeom prst="roundRect">
            <a:avLst>
              <a:gd name="adj" fmla="val 50000"/>
            </a:avLst>
          </a:prstGeom>
          <a:solidFill>
            <a:srgbClr val="DCFCE7"/>
          </a:solidFill>
          <a:ln w="12700">
            <a:solidFill>
              <a:srgbClr val="DCFCE7"/>
            </a:solidFill>
            <a:prstDash val="solid"/>
          </a:ln>
        </p:spPr>
      </p:sp>
      <p:sp>
        <p:nvSpPr>
          <p:cNvPr id="10" name="Text 7"/>
          <p:cNvSpPr txBox="1"/>
          <p:nvPr/>
        </p:nvSpPr>
        <p:spPr>
          <a:xfrm>
            <a:off x="868680" y="5303520"/>
            <a:ext cx="1371600" cy="365760"/>
          </a:xfrm>
          <a:prstGeom prst="rect">
            <a:avLst/>
          </a:prstGeom>
          <a:noFill/>
          <a:ln/>
        </p:spPr>
        <p:txBody>
          <a:bodyPr wrap="square" lIns="0" tIns="0" rIns="0" bIns="0" rtlCol="0" anchor="ctr"/>
          <a:lstStyle/>
          <a:p>
            <a:pPr algn="ctr" indent="0" marL="0">
              <a:buNone/>
            </a:pPr>
            <a:r>
              <a:rPr lang="en-US" sz="1300" b="1" dirty="0">
                <a:solidFill>
                  <a:schemeClr val="accent5"/>
                </a:solidFill>
              </a:rPr>
              <a:t>Livré</a:t>
            </a:r>
            <a:endParaRPr lang="en-US" sz="1300" dirty="0"/>
          </a:p>
        </p:txBody>
      </p:sp>
      <p:sp>
        <p:nvSpPr>
          <p:cNvPr id="11" name="pilier-1"/>
          <p:cNvSpPr/>
          <p:nvPr/>
        </p:nvSpPr>
        <p:spPr>
          <a:xfrm>
            <a:off x="4297680" y="1965960"/>
            <a:ext cx="3474720" cy="3977640"/>
          </a:xfrm>
          <a:prstGeom prst="roundRect">
            <a:avLst>
              <a:gd name="adj" fmla="val 3158"/>
            </a:avLst>
          </a:prstGeom>
          <a:solidFill>
            <a:schemeClr val="bg2"/>
          </a:solidFill>
          <a:ln/>
        </p:spPr>
      </p:sp>
      <p:sp>
        <p:nvSpPr>
          <p:cNvPr id="12" name="badge-LuShoppingBag"/>
          <p:cNvSpPr/>
          <p:nvPr/>
        </p:nvSpPr>
        <p:spPr>
          <a:xfrm>
            <a:off x="4617720" y="2286000"/>
            <a:ext cx="868680" cy="868680"/>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4834890" y="2503170"/>
            <a:ext cx="434340" cy="434340"/>
          </a:xfrm>
          <a:prstGeom prst="rect">
            <a:avLst/>
          </a:prstGeom>
        </p:spPr>
      </p:pic>
      <p:sp>
        <p:nvSpPr>
          <p:cNvPr id="14" name="Text 10"/>
          <p:cNvSpPr txBox="1"/>
          <p:nvPr/>
        </p:nvSpPr>
        <p:spPr>
          <a:xfrm>
            <a:off x="4617720" y="3383280"/>
            <a:ext cx="2834640" cy="457200"/>
          </a:xfrm>
          <a:prstGeom prst="rect">
            <a:avLst/>
          </a:prstGeom>
          <a:noFill/>
          <a:ln/>
        </p:spPr>
        <p:txBody>
          <a:bodyPr wrap="square" lIns="0" tIns="0" rIns="0" bIns="0" rtlCol="0" anchor="ctr"/>
          <a:lstStyle/>
          <a:p>
            <a:pPr indent="0" marL="0">
              <a:buNone/>
            </a:pPr>
            <a:r>
              <a:rPr lang="en-US" sz="2200" b="1" dirty="0">
                <a:solidFill>
                  <a:schemeClr val="tx1"/>
                </a:solidFill>
              </a:rPr>
              <a:t>Vente valorisée</a:t>
            </a:r>
            <a:endParaRPr lang="en-US" sz="2200" dirty="0"/>
          </a:p>
        </p:txBody>
      </p:sp>
      <p:sp>
        <p:nvSpPr>
          <p:cNvPr id="15" name="Text 11"/>
          <p:cNvSpPr txBox="1"/>
          <p:nvPr/>
        </p:nvSpPr>
        <p:spPr>
          <a:xfrm>
            <a:off x="4617720" y="3886200"/>
            <a:ext cx="2834640" cy="1234440"/>
          </a:xfrm>
          <a:prstGeom prst="rect">
            <a:avLst/>
          </a:prstGeom>
          <a:noFill/>
          <a:ln/>
        </p:spPr>
        <p:txBody>
          <a:bodyPr wrap="square" lIns="0" tIns="0" rIns="0" bIns="0" rtlCol="0" anchor="t"/>
          <a:lstStyle/>
          <a:p>
            <a:pPr indent="0" marL="0">
              <a:buNone/>
            </a:pPr>
            <a:r>
              <a:rPr lang="en-US" sz="1500" dirty="0">
                <a:solidFill>
                  <a:schemeClr val="tx1"/>
                </a:solidFill>
              </a:rPr>
              <a:t>Mobilier, bijoux, chaussures et accessoires vendus en ligne, payés par Orange Money ou Moov Money.</a:t>
            </a:r>
            <a:endParaRPr lang="en-US" sz="1500" dirty="0"/>
          </a:p>
        </p:txBody>
      </p:sp>
      <p:sp>
        <p:nvSpPr>
          <p:cNvPr id="16" name="Shape 12"/>
          <p:cNvSpPr/>
          <p:nvPr/>
        </p:nvSpPr>
        <p:spPr>
          <a:xfrm>
            <a:off x="4617720" y="5303520"/>
            <a:ext cx="1371600" cy="365760"/>
          </a:xfrm>
          <a:prstGeom prst="roundRect">
            <a:avLst>
              <a:gd name="adj" fmla="val 50000"/>
            </a:avLst>
          </a:prstGeom>
          <a:solidFill>
            <a:srgbClr val="DCFCE7"/>
          </a:solidFill>
          <a:ln w="12700">
            <a:solidFill>
              <a:srgbClr val="DCFCE7"/>
            </a:solidFill>
            <a:prstDash val="solid"/>
          </a:ln>
        </p:spPr>
      </p:sp>
      <p:sp>
        <p:nvSpPr>
          <p:cNvPr id="17" name="Text 13"/>
          <p:cNvSpPr txBox="1"/>
          <p:nvPr/>
        </p:nvSpPr>
        <p:spPr>
          <a:xfrm>
            <a:off x="4617720" y="5303520"/>
            <a:ext cx="1371600" cy="365760"/>
          </a:xfrm>
          <a:prstGeom prst="rect">
            <a:avLst/>
          </a:prstGeom>
          <a:noFill/>
          <a:ln/>
        </p:spPr>
        <p:txBody>
          <a:bodyPr wrap="square" lIns="0" tIns="0" rIns="0" bIns="0" rtlCol="0" anchor="ctr"/>
          <a:lstStyle/>
          <a:p>
            <a:pPr algn="ctr" indent="0" marL="0">
              <a:buNone/>
            </a:pPr>
            <a:r>
              <a:rPr lang="en-US" sz="1300" b="1" dirty="0">
                <a:solidFill>
                  <a:schemeClr val="accent5"/>
                </a:solidFill>
              </a:rPr>
              <a:t>Livré</a:t>
            </a:r>
            <a:endParaRPr lang="en-US" sz="1300" dirty="0"/>
          </a:p>
        </p:txBody>
      </p:sp>
      <p:sp>
        <p:nvSpPr>
          <p:cNvPr id="18" name="pilier-2"/>
          <p:cNvSpPr/>
          <p:nvPr/>
        </p:nvSpPr>
        <p:spPr>
          <a:xfrm>
            <a:off x="8046720" y="1965960"/>
            <a:ext cx="3474720" cy="3977640"/>
          </a:xfrm>
          <a:prstGeom prst="roundRect">
            <a:avLst>
              <a:gd name="adj" fmla="val 3158"/>
            </a:avLst>
          </a:prstGeom>
          <a:solidFill>
            <a:schemeClr val="bg2"/>
          </a:solidFill>
          <a:ln/>
        </p:spPr>
      </p:sp>
      <p:sp>
        <p:nvSpPr>
          <p:cNvPr id="19" name="badge-LuGraduationCap"/>
          <p:cNvSpPr/>
          <p:nvPr/>
        </p:nvSpPr>
        <p:spPr>
          <a:xfrm>
            <a:off x="8366760" y="2286000"/>
            <a:ext cx="868680" cy="868680"/>
          </a:xfrm>
          <a:prstGeom prst="ellipse">
            <a:avLst/>
          </a:prstGeom>
          <a:solidFill>
            <a:schemeClr val="accent6"/>
          </a:solidFill>
          <a:ln/>
        </p:spPr>
      </p:sp>
      <p:pic>
        <p:nvPicPr>
          <p:cNvPr id="20" name="Image 2" descr="preencoded.png">    </p:cNvPr>
          <p:cNvPicPr>
            <a:picLocks noChangeAspect="1"/>
          </p:cNvPicPr>
          <p:nvPr/>
        </p:nvPicPr>
        <p:blipFill>
          <a:blip r:embed="rId3"/>
          <a:stretch>
            <a:fillRect/>
          </a:stretch>
        </p:blipFill>
        <p:spPr>
          <a:xfrm>
            <a:off x="8583930" y="2503170"/>
            <a:ext cx="434340" cy="434340"/>
          </a:xfrm>
          <a:prstGeom prst="rect">
            <a:avLst/>
          </a:prstGeom>
        </p:spPr>
      </p:pic>
      <p:sp>
        <p:nvSpPr>
          <p:cNvPr id="21" name="Text 16"/>
          <p:cNvSpPr txBox="1"/>
          <p:nvPr/>
        </p:nvSpPr>
        <p:spPr>
          <a:xfrm>
            <a:off x="8366760" y="3383280"/>
            <a:ext cx="2834640" cy="457200"/>
          </a:xfrm>
          <a:prstGeom prst="rect">
            <a:avLst/>
          </a:prstGeom>
          <a:noFill/>
          <a:ln/>
        </p:spPr>
        <p:txBody>
          <a:bodyPr wrap="square" lIns="0" tIns="0" rIns="0" bIns="0" rtlCol="0" anchor="ctr"/>
          <a:lstStyle/>
          <a:p>
            <a:pPr indent="0" marL="0">
              <a:buNone/>
            </a:pPr>
            <a:r>
              <a:rPr lang="en-US" sz="2200" b="1" dirty="0">
                <a:solidFill>
                  <a:schemeClr val="tx1"/>
                </a:solidFill>
              </a:rPr>
              <a:t>Formation</a:t>
            </a:r>
            <a:endParaRPr lang="en-US" sz="2200" dirty="0"/>
          </a:p>
        </p:txBody>
      </p:sp>
      <p:sp>
        <p:nvSpPr>
          <p:cNvPr id="22" name="Text 17"/>
          <p:cNvSpPr txBox="1"/>
          <p:nvPr/>
        </p:nvSpPr>
        <p:spPr>
          <a:xfrm>
            <a:off x="8366760" y="3886200"/>
            <a:ext cx="2834640" cy="1234440"/>
          </a:xfrm>
          <a:prstGeom prst="rect">
            <a:avLst/>
          </a:prstGeom>
          <a:noFill/>
          <a:ln/>
        </p:spPr>
        <p:txBody>
          <a:bodyPr wrap="square" lIns="0" tIns="0" rIns="0" bIns="0" rtlCol="0" anchor="t"/>
          <a:lstStyle/>
          <a:p>
            <a:pPr indent="0" marL="0">
              <a:buNone/>
            </a:pPr>
            <a:r>
              <a:rPr lang="en-US" sz="1500" dirty="0">
                <a:solidFill>
                  <a:schemeClr val="tx1"/>
                </a:solidFill>
              </a:rPr>
              <a:t>Métiers verts : modules, inscriptions et certifications modélisés (UML, entités), pas encore développés.</a:t>
            </a:r>
            <a:endParaRPr lang="en-US" sz="1500" dirty="0"/>
          </a:p>
        </p:txBody>
      </p:sp>
      <p:sp>
        <p:nvSpPr>
          <p:cNvPr id="23" name="Shape 18"/>
          <p:cNvSpPr/>
          <p:nvPr/>
        </p:nvSpPr>
        <p:spPr>
          <a:xfrm>
            <a:off x="8366760" y="5303520"/>
            <a:ext cx="1371600" cy="365760"/>
          </a:xfrm>
          <a:prstGeom prst="roundRect">
            <a:avLst>
              <a:gd name="adj" fmla="val 50000"/>
            </a:avLst>
          </a:prstGeom>
          <a:solidFill>
            <a:schemeClr val="bg1"/>
          </a:solidFill>
          <a:ln w="12700">
            <a:solidFill>
              <a:srgbClr val="E2E8F0"/>
            </a:solidFill>
            <a:prstDash val="solid"/>
          </a:ln>
        </p:spPr>
      </p:sp>
      <p:sp>
        <p:nvSpPr>
          <p:cNvPr id="24" name="Text 19"/>
          <p:cNvSpPr txBox="1"/>
          <p:nvPr/>
        </p:nvSpPr>
        <p:spPr>
          <a:xfrm>
            <a:off x="8366760" y="5303520"/>
            <a:ext cx="1371600" cy="365760"/>
          </a:xfrm>
          <a:prstGeom prst="rect">
            <a:avLst/>
          </a:prstGeom>
          <a:noFill/>
          <a:ln/>
        </p:spPr>
        <p:txBody>
          <a:bodyPr wrap="square" lIns="0" tIns="0" rIns="0" bIns="0" rtlCol="0" anchor="ctr"/>
          <a:lstStyle/>
          <a:p>
            <a:pPr algn="ctr" indent="0" marL="0">
              <a:buNone/>
            </a:pPr>
            <a:r>
              <a:rPr lang="en-US" sz="1300" b="1" dirty="0">
                <a:solidFill>
                  <a:schemeClr val="accent6"/>
                </a:solidFill>
              </a:rPr>
              <a:t>Itération 2</a:t>
            </a:r>
            <a:endParaRPr lang="en-US" sz="1300" dirty="0"/>
          </a:p>
        </p:txBody>
      </p:sp>
      <p:sp>
        <p:nvSpPr>
          <p:cNvPr id="25" name="Slide Number Placeholder 0"/>
          <p:cNvSpPr>
            <a:spLocks noGrp="1"/>
          </p:cNvSpPr>
          <p:nvPr>
            <p:ph type="sldNum" sz="quarter" idx="4294967295"/>
          </p:nvPr>
        </p:nvSpPr>
        <p:spPr>
          <a:xfrm>
            <a:off x="11155680" y="6327648"/>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85800"/>
          </a:xfrm>
          <a:prstGeom prst="rect">
            <a:avLst/>
          </a:prstGeom>
          <a:noFill/>
          <a:ln/>
        </p:spPr>
        <p:txBody>
          <a:bodyPr wrap="square" lIns="0" tIns="0" rIns="0" bIns="0" rtlCol="0" anchor="ctr"/>
          <a:lstStyle/>
          <a:p>
            <a:pPr algn="l" indent="0" marL="0">
              <a:buNone/>
            </a:pPr>
            <a:r>
              <a:rPr lang="en-US" sz="3600" b="1" dirty="0">
                <a:solidFill>
                  <a:schemeClr val="tx1"/>
                </a:solidFill>
              </a:rPr>
              <a:t>Trois espaces, un seul compte</a:t>
            </a:r>
            <a:endParaRPr lang="en-US" sz="3600" dirty="0"/>
          </a:p>
        </p:txBody>
      </p:sp>
      <p:sp>
        <p:nvSpPr>
          <p:cNvPr id="3" name="Text 0"/>
          <p:cNvSpPr/>
          <p:nvPr>
            <p:ph idx="101" type="body" hasCustomPrompt="1"/>
          </p:nvPr>
        </p:nvSpPr>
        <p:spPr>
          <a:xfrm>
            <a:off x="548640" y="1051560"/>
            <a:ext cx="11064240" cy="457200"/>
          </a:xfrm>
          <a:prstGeom prst="rect">
            <a:avLst/>
          </a:prstGeom>
          <a:noFill/>
          <a:ln/>
        </p:spPr>
        <p:txBody>
          <a:bodyPr wrap="square" lIns="0" tIns="0" rIns="0" bIns="0" rtlCol="0" anchor="t"/>
          <a:lstStyle/>
          <a:p>
            <a:pPr indent="0" marL="0">
              <a:buNone/>
            </a:pPr>
            <a:r>
              <a:rPr lang="en-US" sz="1800" dirty="0">
                <a:solidFill>
                  <a:schemeClr val="accent6"/>
                </a:solidFill>
              </a:rPr>
              <a:t>Chaque rôle arrive directement sur l'écran dont il a besoin ; un compte peut cumuler plusieurs rôles</a:t>
            </a:r>
            <a:endParaRPr lang="en-US" sz="1800" dirty="0"/>
          </a:p>
        </p:txBody>
      </p:sp>
      <p:sp>
        <p:nvSpPr>
          <p:cNvPr id="4" name="role-0"/>
          <p:cNvSpPr/>
          <p:nvPr/>
        </p:nvSpPr>
        <p:spPr>
          <a:xfrm>
            <a:off x="548640" y="1965960"/>
            <a:ext cx="3474720" cy="3977640"/>
          </a:xfrm>
          <a:prstGeom prst="roundRect">
            <a:avLst>
              <a:gd name="adj" fmla="val 3158"/>
            </a:avLst>
          </a:prstGeom>
          <a:solidFill>
            <a:schemeClr val="bg2"/>
          </a:solidFill>
          <a:ln/>
        </p:spPr>
      </p:sp>
      <p:sp>
        <p:nvSpPr>
          <p:cNvPr id="5" name="badge-LuStore"/>
          <p:cNvSpPr/>
          <p:nvPr/>
        </p:nvSpPr>
        <p:spPr>
          <a:xfrm>
            <a:off x="868680" y="2240280"/>
            <a:ext cx="777240" cy="77724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1062990" y="2434590"/>
            <a:ext cx="388620" cy="388620"/>
          </a:xfrm>
          <a:prstGeom prst="rect">
            <a:avLst/>
          </a:prstGeom>
        </p:spPr>
      </p:pic>
      <p:sp>
        <p:nvSpPr>
          <p:cNvPr id="7" name="Text 4"/>
          <p:cNvSpPr txBox="1"/>
          <p:nvPr/>
        </p:nvSpPr>
        <p:spPr>
          <a:xfrm>
            <a:off x="1828800" y="2240280"/>
            <a:ext cx="2011680" cy="411480"/>
          </a:xfrm>
          <a:prstGeom prst="rect">
            <a:avLst/>
          </a:prstGeom>
          <a:noFill/>
          <a:ln/>
        </p:spPr>
        <p:txBody>
          <a:bodyPr wrap="square" lIns="0" tIns="0" rIns="0" bIns="0" rtlCol="0" anchor="ctr"/>
          <a:lstStyle/>
          <a:p>
            <a:pPr indent="0" marL="0">
              <a:buNone/>
            </a:pPr>
            <a:r>
              <a:rPr lang="en-US" sz="2200" b="1" dirty="0">
                <a:solidFill>
                  <a:schemeClr val="tx1"/>
                </a:solidFill>
              </a:rPr>
              <a:t>Client</a:t>
            </a:r>
            <a:endParaRPr lang="en-US" sz="2200" dirty="0"/>
          </a:p>
        </p:txBody>
      </p:sp>
      <p:sp>
        <p:nvSpPr>
          <p:cNvPr id="8" name="Text 5"/>
          <p:cNvSpPr txBox="1"/>
          <p:nvPr/>
        </p:nvSpPr>
        <p:spPr>
          <a:xfrm>
            <a:off x="1828800" y="2651760"/>
            <a:ext cx="2103120" cy="365760"/>
          </a:xfrm>
          <a:prstGeom prst="rect">
            <a:avLst/>
          </a:prstGeom>
          <a:noFill/>
          <a:ln/>
        </p:spPr>
        <p:txBody>
          <a:bodyPr wrap="square" lIns="0" tIns="0" rIns="0" bIns="0" rtlCol="0" anchor="ctr"/>
          <a:lstStyle/>
          <a:p>
            <a:pPr indent="0" marL="0">
              <a:buNone/>
            </a:pPr>
            <a:r>
              <a:rPr lang="en-US" sz="1400" dirty="0">
                <a:solidFill>
                  <a:schemeClr val="accent6"/>
                </a:solidFill>
              </a:rPr>
              <a:t>Boutique en ligne</a:t>
            </a:r>
            <a:endParaRPr lang="en-US" sz="1400" dirty="0"/>
          </a:p>
        </p:txBody>
      </p:sp>
      <p:sp>
        <p:nvSpPr>
          <p:cNvPr id="9" name="Text 6"/>
          <p:cNvSpPr txBox="1"/>
          <p:nvPr/>
        </p:nvSpPr>
        <p:spPr>
          <a:xfrm>
            <a:off x="868680" y="3291840"/>
            <a:ext cx="2926080" cy="246888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tx1"/>
                </a:solidFill>
              </a:rPr>
              <a:t>Catalogue 2026 : 24 produits, recherche, tri</a:t>
            </a:r>
            <a:endParaRPr lang="en-US" sz="1500" dirty="0"/>
          </a:p>
          <a:p>
            <a:pPr marL="177800" indent="-177800">
              <a:spcAft>
                <a:spcPts val="800"/>
              </a:spcAft>
              <a:buSzPct val="100000"/>
              <a:buChar char="•"/>
            </a:pPr>
            <a:r>
              <a:rPr lang="en-US" sz="1500" dirty="0">
                <a:solidFill>
                  <a:schemeClr val="tx1"/>
                </a:solidFill>
              </a:rPr>
              <a:t>Panier, favoris, avis d'acheteurs</a:t>
            </a:r>
            <a:endParaRPr lang="en-US" sz="1500" dirty="0"/>
          </a:p>
          <a:p>
            <a:pPr marL="177800" indent="-177800">
              <a:spcAft>
                <a:spcPts val="800"/>
              </a:spcAft>
              <a:buSzPct val="100000"/>
              <a:buChar char="•"/>
            </a:pPr>
            <a:r>
              <a:rPr lang="en-US" sz="1500" dirty="0">
                <a:solidFill>
                  <a:schemeClr val="tx1"/>
                </a:solidFill>
              </a:rPr>
              <a:t>Paiement PayDunya (Orange / Moov Money)</a:t>
            </a:r>
            <a:endParaRPr lang="en-US" sz="1500" dirty="0"/>
          </a:p>
          <a:p>
            <a:pPr marL="177800" indent="-177800">
              <a:spcAft>
                <a:spcPts val="800"/>
              </a:spcAft>
              <a:buSzPct val="100000"/>
              <a:buChar char="•"/>
            </a:pPr>
            <a:r>
              <a:rPr lang="en-US" sz="1500" dirty="0">
                <a:solidFill>
                  <a:schemeClr val="tx1"/>
                </a:solidFill>
              </a:rPr>
              <a:t>Suivi du statut de commande</a:t>
            </a:r>
            <a:endParaRPr lang="en-US" sz="1500" dirty="0"/>
          </a:p>
        </p:txBody>
      </p:sp>
      <p:sp>
        <p:nvSpPr>
          <p:cNvPr id="10" name="role-1"/>
          <p:cNvSpPr/>
          <p:nvPr/>
        </p:nvSpPr>
        <p:spPr>
          <a:xfrm>
            <a:off x="4297680" y="1965960"/>
            <a:ext cx="3474720" cy="3977640"/>
          </a:xfrm>
          <a:prstGeom prst="roundRect">
            <a:avLst>
              <a:gd name="adj" fmla="val 3158"/>
            </a:avLst>
          </a:prstGeom>
          <a:solidFill>
            <a:schemeClr val="bg2"/>
          </a:solidFill>
          <a:ln/>
        </p:spPr>
      </p:sp>
      <p:sp>
        <p:nvSpPr>
          <p:cNvPr id="11" name="badge-LuSmartphone"/>
          <p:cNvSpPr/>
          <p:nvPr/>
        </p:nvSpPr>
        <p:spPr>
          <a:xfrm>
            <a:off x="4617720" y="2240280"/>
            <a:ext cx="777240" cy="77724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4812030" y="2434590"/>
            <a:ext cx="388620" cy="388620"/>
          </a:xfrm>
          <a:prstGeom prst="rect">
            <a:avLst/>
          </a:prstGeom>
        </p:spPr>
      </p:pic>
      <p:sp>
        <p:nvSpPr>
          <p:cNvPr id="13" name="Text 9"/>
          <p:cNvSpPr txBox="1"/>
          <p:nvPr/>
        </p:nvSpPr>
        <p:spPr>
          <a:xfrm>
            <a:off x="5577840" y="2240280"/>
            <a:ext cx="2011680" cy="411480"/>
          </a:xfrm>
          <a:prstGeom prst="rect">
            <a:avLst/>
          </a:prstGeom>
          <a:noFill/>
          <a:ln/>
        </p:spPr>
        <p:txBody>
          <a:bodyPr wrap="square" lIns="0" tIns="0" rIns="0" bIns="0" rtlCol="0" anchor="ctr"/>
          <a:lstStyle/>
          <a:p>
            <a:pPr indent="0" marL="0">
              <a:buNone/>
            </a:pPr>
            <a:r>
              <a:rPr lang="en-US" sz="2200" b="1" dirty="0">
                <a:solidFill>
                  <a:schemeClr val="tx1"/>
                </a:solidFill>
              </a:rPr>
              <a:t>Collecteur</a:t>
            </a:r>
            <a:endParaRPr lang="en-US" sz="2200" dirty="0"/>
          </a:p>
        </p:txBody>
      </p:sp>
      <p:sp>
        <p:nvSpPr>
          <p:cNvPr id="14" name="Text 10"/>
          <p:cNvSpPr txBox="1"/>
          <p:nvPr/>
        </p:nvSpPr>
        <p:spPr>
          <a:xfrm>
            <a:off x="5577840" y="2651760"/>
            <a:ext cx="2103120" cy="365760"/>
          </a:xfrm>
          <a:prstGeom prst="rect">
            <a:avLst/>
          </a:prstGeom>
          <a:noFill/>
          <a:ln/>
        </p:spPr>
        <p:txBody>
          <a:bodyPr wrap="square" lIns="0" tIns="0" rIns="0" bIns="0" rtlCol="0" anchor="ctr"/>
          <a:lstStyle/>
          <a:p>
            <a:pPr indent="0" marL="0">
              <a:buNone/>
            </a:pPr>
            <a:r>
              <a:rPr lang="en-US" sz="1400" dirty="0">
                <a:solidFill>
                  <a:schemeClr val="accent6"/>
                </a:solidFill>
              </a:rPr>
              <a:t>Application mobile (PWA)</a:t>
            </a:r>
            <a:endParaRPr lang="en-US" sz="1400" dirty="0"/>
          </a:p>
        </p:txBody>
      </p:sp>
      <p:sp>
        <p:nvSpPr>
          <p:cNvPr id="15" name="Text 11"/>
          <p:cNvSpPr txBox="1"/>
          <p:nvPr/>
        </p:nvSpPr>
        <p:spPr>
          <a:xfrm>
            <a:off x="4617720" y="3291840"/>
            <a:ext cx="2926080" cy="246888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tx1"/>
                </a:solidFill>
              </a:rPr>
              <a:t>Déclaration de collecte en 1 écran</a:t>
            </a:r>
            <a:endParaRPr lang="en-US" sz="1500" dirty="0"/>
          </a:p>
          <a:p>
            <a:pPr marL="177800" indent="-177800">
              <a:spcAft>
                <a:spcPts val="800"/>
              </a:spcAft>
              <a:buSzPct val="100000"/>
              <a:buChar char="•"/>
            </a:pPr>
            <a:r>
              <a:rPr lang="en-US" sz="1500" dirty="0">
                <a:solidFill>
                  <a:schemeClr val="tx1"/>
                </a:solidFill>
              </a:rPr>
              <a:t>Fonctionne hors ligne, synchronisation au retour du réseau</a:t>
            </a:r>
            <a:endParaRPr lang="en-US" sz="1500" dirty="0"/>
          </a:p>
          <a:p>
            <a:pPr marL="177800" indent="-177800">
              <a:spcAft>
                <a:spcPts val="800"/>
              </a:spcAft>
              <a:buSzPct val="100000"/>
              <a:buChar char="•"/>
            </a:pPr>
            <a:r>
              <a:rPr lang="en-US" sz="1500" dirty="0">
                <a:solidFill>
                  <a:schemeClr val="tx1"/>
                </a:solidFill>
              </a:rPr>
              <a:t>Suivi de mes collectes</a:t>
            </a:r>
            <a:endParaRPr lang="en-US" sz="1500" dirty="0"/>
          </a:p>
          <a:p>
            <a:pPr marL="177800" indent="-177800">
              <a:spcAft>
                <a:spcPts val="800"/>
              </a:spcAft>
              <a:buSzPct val="100000"/>
              <a:buChar char="•"/>
            </a:pPr>
            <a:r>
              <a:rPr lang="en-US" sz="1500" dirty="0">
                <a:solidFill>
                  <a:schemeClr val="tx1"/>
                </a:solidFill>
              </a:rPr>
              <a:t>Signalement de pneus, points de récompense</a:t>
            </a:r>
            <a:endParaRPr lang="en-US" sz="1500" dirty="0"/>
          </a:p>
        </p:txBody>
      </p:sp>
      <p:sp>
        <p:nvSpPr>
          <p:cNvPr id="16" name="role-2"/>
          <p:cNvSpPr/>
          <p:nvPr/>
        </p:nvSpPr>
        <p:spPr>
          <a:xfrm>
            <a:off x="8046720" y="1965960"/>
            <a:ext cx="3474720" cy="3977640"/>
          </a:xfrm>
          <a:prstGeom prst="roundRect">
            <a:avLst>
              <a:gd name="adj" fmla="val 3158"/>
            </a:avLst>
          </a:prstGeom>
          <a:solidFill>
            <a:schemeClr val="bg2"/>
          </a:solidFill>
          <a:ln/>
        </p:spPr>
      </p:sp>
      <p:sp>
        <p:nvSpPr>
          <p:cNvPr id="17" name="badge-LuUserCog"/>
          <p:cNvSpPr/>
          <p:nvPr/>
        </p:nvSpPr>
        <p:spPr>
          <a:xfrm>
            <a:off x="8366760" y="2240280"/>
            <a:ext cx="777240" cy="777240"/>
          </a:xfrm>
          <a:prstGeom prst="ellipse">
            <a:avLst/>
          </a:prstGeom>
          <a:solidFill>
            <a:schemeClr val="accent1"/>
          </a:solidFill>
          <a:ln/>
        </p:spPr>
      </p:sp>
      <p:pic>
        <p:nvPicPr>
          <p:cNvPr id="18" name="Image 2" descr="preencoded.png">    </p:cNvPr>
          <p:cNvPicPr>
            <a:picLocks noChangeAspect="1"/>
          </p:cNvPicPr>
          <p:nvPr/>
        </p:nvPicPr>
        <p:blipFill>
          <a:blip r:embed="rId3"/>
          <a:stretch>
            <a:fillRect/>
          </a:stretch>
        </p:blipFill>
        <p:spPr>
          <a:xfrm>
            <a:off x="8561070" y="2434590"/>
            <a:ext cx="388620" cy="388620"/>
          </a:xfrm>
          <a:prstGeom prst="rect">
            <a:avLst/>
          </a:prstGeom>
        </p:spPr>
      </p:pic>
      <p:sp>
        <p:nvSpPr>
          <p:cNvPr id="19" name="Text 14"/>
          <p:cNvSpPr txBox="1"/>
          <p:nvPr/>
        </p:nvSpPr>
        <p:spPr>
          <a:xfrm>
            <a:off x="9326880" y="2240280"/>
            <a:ext cx="2011680" cy="411480"/>
          </a:xfrm>
          <a:prstGeom prst="rect">
            <a:avLst/>
          </a:prstGeom>
          <a:noFill/>
          <a:ln/>
        </p:spPr>
        <p:txBody>
          <a:bodyPr wrap="square" lIns="0" tIns="0" rIns="0" bIns="0" rtlCol="0" anchor="ctr"/>
          <a:lstStyle/>
          <a:p>
            <a:pPr indent="0" marL="0">
              <a:buNone/>
            </a:pPr>
            <a:r>
              <a:rPr lang="en-US" sz="2200" b="1" dirty="0">
                <a:solidFill>
                  <a:schemeClr val="tx1"/>
                </a:solidFill>
              </a:rPr>
              <a:t>Gestion</a:t>
            </a:r>
            <a:endParaRPr lang="en-US" sz="2200" dirty="0"/>
          </a:p>
        </p:txBody>
      </p:sp>
      <p:sp>
        <p:nvSpPr>
          <p:cNvPr id="20" name="Text 15"/>
          <p:cNvSpPr txBox="1"/>
          <p:nvPr/>
        </p:nvSpPr>
        <p:spPr>
          <a:xfrm>
            <a:off x="9326880" y="2651760"/>
            <a:ext cx="2103120" cy="365760"/>
          </a:xfrm>
          <a:prstGeom prst="rect">
            <a:avLst/>
          </a:prstGeom>
          <a:noFill/>
          <a:ln/>
        </p:spPr>
        <p:txBody>
          <a:bodyPr wrap="square" lIns="0" tIns="0" rIns="0" bIns="0" rtlCol="0" anchor="ctr"/>
          <a:lstStyle/>
          <a:p>
            <a:pPr indent="0" marL="0">
              <a:buNone/>
            </a:pPr>
            <a:r>
              <a:rPr lang="en-US" sz="1400" dirty="0">
                <a:solidFill>
                  <a:schemeClr val="accent6"/>
                </a:solidFill>
              </a:rPr>
              <a:t>Back-office</a:t>
            </a:r>
            <a:endParaRPr lang="en-US" sz="1400" dirty="0"/>
          </a:p>
        </p:txBody>
      </p:sp>
      <p:sp>
        <p:nvSpPr>
          <p:cNvPr id="21" name="Text 16"/>
          <p:cNvSpPr txBox="1"/>
          <p:nvPr/>
        </p:nvSpPr>
        <p:spPr>
          <a:xfrm>
            <a:off x="8366760" y="3291840"/>
            <a:ext cx="2926080" cy="246888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tx1"/>
                </a:solidFill>
              </a:rPr>
              <a:t>Validation des collectes vers le stock</a:t>
            </a:r>
            <a:endParaRPr lang="en-US" sz="1500" dirty="0"/>
          </a:p>
          <a:p>
            <a:pPr marL="177800" indent="-177800">
              <a:spcAft>
                <a:spcPts val="800"/>
              </a:spcAft>
              <a:buSzPct val="100000"/>
              <a:buChar char="•"/>
            </a:pPr>
            <a:r>
              <a:rPr lang="en-US" sz="1500" dirty="0">
                <a:solidFill>
                  <a:schemeClr val="tx1"/>
                </a:solidFill>
              </a:rPr>
              <a:t>Produits, stocks et commandes</a:t>
            </a:r>
            <a:endParaRPr lang="en-US" sz="1500" dirty="0"/>
          </a:p>
          <a:p>
            <a:pPr marL="177800" indent="-177800">
              <a:spcAft>
                <a:spcPts val="800"/>
              </a:spcAft>
              <a:buSzPct val="100000"/>
              <a:buChar char="•"/>
            </a:pPr>
            <a:r>
              <a:rPr lang="en-US" sz="1500" dirty="0">
                <a:solidFill>
                  <a:schemeClr val="tx1"/>
                </a:solidFill>
              </a:rPr>
              <a:t>Comptes, rôles et déblocage</a:t>
            </a:r>
            <a:endParaRPr lang="en-US" sz="1500" dirty="0"/>
          </a:p>
          <a:p>
            <a:pPr marL="177800" indent="-177800">
              <a:spcAft>
                <a:spcPts val="800"/>
              </a:spcAft>
              <a:buSzPct val="100000"/>
              <a:buChar char="•"/>
            </a:pPr>
            <a:r>
              <a:rPr lang="en-US" sz="1500" dirty="0">
                <a:solidFill>
                  <a:schemeClr val="tx1"/>
                </a:solidFill>
              </a:rPr>
              <a:t>Événements et chiffres de la Communauté</a:t>
            </a:r>
            <a:endParaRPr lang="en-US" sz="1500" dirty="0"/>
          </a:p>
        </p:txBody>
      </p:sp>
      <p:sp>
        <p:nvSpPr>
          <p:cNvPr id="25" name="Slide Number Placeholder 0"/>
          <p:cNvSpPr>
            <a:spLocks noGrp="1"/>
          </p:cNvSpPr>
          <p:nvPr>
            <p:ph type="sldNum" sz="quarter" idx="4294967295"/>
          </p:nvPr>
        </p:nvSpPr>
        <p:spPr>
          <a:xfrm>
            <a:off x="11155680" y="6327648"/>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85800"/>
          </a:xfrm>
          <a:prstGeom prst="rect">
            <a:avLst/>
          </a:prstGeom>
          <a:noFill/>
          <a:ln/>
        </p:spPr>
        <p:txBody>
          <a:bodyPr wrap="square" lIns="0" tIns="0" rIns="0" bIns="0" rtlCol="0" anchor="ctr"/>
          <a:lstStyle/>
          <a:p>
            <a:pPr algn="l" indent="0" marL="0">
              <a:buNone/>
            </a:pPr>
            <a:r>
              <a:rPr lang="en-US" sz="3600" b="1" dirty="0">
                <a:solidFill>
                  <a:schemeClr val="tx1"/>
                </a:solidFill>
              </a:rPr>
              <a:t>Du déchet collecté à l'objet vendu</a:t>
            </a:r>
            <a:endParaRPr lang="en-US" sz="3600" dirty="0"/>
          </a:p>
        </p:txBody>
      </p:sp>
      <p:sp>
        <p:nvSpPr>
          <p:cNvPr id="3" name="Text 0"/>
          <p:cNvSpPr/>
          <p:nvPr>
            <p:ph idx="101" type="body" hasCustomPrompt="1"/>
          </p:nvPr>
        </p:nvSpPr>
        <p:spPr>
          <a:xfrm>
            <a:off x="548640" y="1051560"/>
            <a:ext cx="11064240" cy="457200"/>
          </a:xfrm>
          <a:prstGeom prst="rect">
            <a:avLst/>
          </a:prstGeom>
          <a:noFill/>
          <a:ln/>
        </p:spPr>
        <p:txBody>
          <a:bodyPr wrap="square" lIns="0" tIns="0" rIns="0" bIns="0" rtlCol="0" anchor="t"/>
          <a:lstStyle/>
          <a:p>
            <a:pPr indent="0" marL="0">
              <a:buNone/>
            </a:pPr>
            <a:r>
              <a:rPr lang="en-US" sz="1800" dirty="0">
                <a:solidFill>
                  <a:schemeClr val="accent6"/>
                </a:solidFill>
              </a:rPr>
              <a:t>Chaque étape laisse une trace : qui, quoi, combien, quand</a:t>
            </a:r>
            <a:endParaRPr lang="en-US" sz="1800" dirty="0"/>
          </a:p>
        </p:txBody>
      </p:sp>
      <p:sp>
        <p:nvSpPr>
          <p:cNvPr id="4" name="badge-LuClipboardCheck"/>
          <p:cNvSpPr/>
          <p:nvPr/>
        </p:nvSpPr>
        <p:spPr>
          <a:xfrm>
            <a:off x="937260" y="2057400"/>
            <a:ext cx="914400" cy="9144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165860" y="2286000"/>
            <a:ext cx="457200" cy="457200"/>
          </a:xfrm>
          <a:prstGeom prst="rect">
            <a:avLst/>
          </a:prstGeom>
        </p:spPr>
      </p:pic>
      <p:sp>
        <p:nvSpPr>
          <p:cNvPr id="6" name="Text 3"/>
          <p:cNvSpPr txBox="1"/>
          <p:nvPr/>
        </p:nvSpPr>
        <p:spPr>
          <a:xfrm>
            <a:off x="548640" y="3154680"/>
            <a:ext cx="1691640" cy="411480"/>
          </a:xfrm>
          <a:prstGeom prst="rect">
            <a:avLst/>
          </a:prstGeom>
          <a:noFill/>
          <a:ln/>
        </p:spPr>
        <p:txBody>
          <a:bodyPr wrap="square" lIns="0" tIns="0" rIns="0" bIns="0" rtlCol="0" anchor="ctr"/>
          <a:lstStyle/>
          <a:p>
            <a:pPr algn="ctr" indent="0" marL="0">
              <a:buNone/>
            </a:pPr>
            <a:r>
              <a:rPr lang="en-US" sz="1800" b="1" dirty="0">
                <a:solidFill>
                  <a:schemeClr val="tx1"/>
                </a:solidFill>
              </a:rPr>
              <a:t>1. Déclarer</a:t>
            </a:r>
            <a:endParaRPr lang="en-US" sz="1800" dirty="0"/>
          </a:p>
        </p:txBody>
      </p:sp>
      <p:sp>
        <p:nvSpPr>
          <p:cNvPr id="7" name="Text 4"/>
          <p:cNvSpPr txBox="1"/>
          <p:nvPr/>
        </p:nvSpPr>
        <p:spPr>
          <a:xfrm>
            <a:off x="548640" y="3611880"/>
            <a:ext cx="1691640" cy="1005840"/>
          </a:xfrm>
          <a:prstGeom prst="rect">
            <a:avLst/>
          </a:prstGeom>
          <a:noFill/>
          <a:ln/>
        </p:spPr>
        <p:txBody>
          <a:bodyPr wrap="square" lIns="0" tIns="0" rIns="0" bIns="0" rtlCol="0" anchor="t"/>
          <a:lstStyle/>
          <a:p>
            <a:pPr algn="ctr" indent="0" marL="0">
              <a:buNone/>
            </a:pPr>
            <a:r>
              <a:rPr lang="en-US" sz="1400" dirty="0">
                <a:solidFill>
                  <a:schemeClr val="accent6"/>
                </a:solidFill>
              </a:rPr>
              <a:t>Le collecteur saisit matériau, quantité et lieu, même hors ligne</a:t>
            </a:r>
            <a:endParaRPr lang="en-US" sz="1400" dirty="0"/>
          </a:p>
        </p:txBody>
      </p:sp>
      <p:pic>
        <p:nvPicPr>
          <p:cNvPr id="8" name="Image 1" descr="preencoded.png">    </p:cNvPr>
          <p:cNvPicPr>
            <a:picLocks noChangeAspect="1"/>
          </p:cNvPicPr>
          <p:nvPr/>
        </p:nvPicPr>
        <p:blipFill>
          <a:blip r:embed="rId2"/>
          <a:stretch>
            <a:fillRect/>
          </a:stretch>
        </p:blipFill>
        <p:spPr>
          <a:xfrm>
            <a:off x="2194560" y="2377440"/>
            <a:ext cx="274320" cy="274320"/>
          </a:xfrm>
          <a:prstGeom prst="rect">
            <a:avLst/>
          </a:prstGeom>
        </p:spPr>
      </p:pic>
      <p:sp>
        <p:nvSpPr>
          <p:cNvPr id="9" name="badge-LuCircleCheck"/>
          <p:cNvSpPr/>
          <p:nvPr/>
        </p:nvSpPr>
        <p:spPr>
          <a:xfrm>
            <a:off x="2811780" y="2057400"/>
            <a:ext cx="914400" cy="914400"/>
          </a:xfrm>
          <a:prstGeom prst="ellipse">
            <a:avLst/>
          </a:prstGeom>
          <a:solidFill>
            <a:schemeClr val="accent1"/>
          </a:solidFill>
          <a:ln/>
        </p:spPr>
      </p:sp>
      <p:pic>
        <p:nvPicPr>
          <p:cNvPr id="10" name="Image 2" descr="preencoded.png">    </p:cNvPr>
          <p:cNvPicPr>
            <a:picLocks noChangeAspect="1"/>
          </p:cNvPicPr>
          <p:nvPr/>
        </p:nvPicPr>
        <p:blipFill>
          <a:blip r:embed="rId3"/>
          <a:stretch>
            <a:fillRect/>
          </a:stretch>
        </p:blipFill>
        <p:spPr>
          <a:xfrm>
            <a:off x="3040380" y="2286000"/>
            <a:ext cx="457200" cy="457200"/>
          </a:xfrm>
          <a:prstGeom prst="rect">
            <a:avLst/>
          </a:prstGeom>
        </p:spPr>
      </p:pic>
      <p:sp>
        <p:nvSpPr>
          <p:cNvPr id="11" name="Text 6"/>
          <p:cNvSpPr txBox="1"/>
          <p:nvPr/>
        </p:nvSpPr>
        <p:spPr>
          <a:xfrm>
            <a:off x="2423160" y="3154680"/>
            <a:ext cx="1691640" cy="411480"/>
          </a:xfrm>
          <a:prstGeom prst="rect">
            <a:avLst/>
          </a:prstGeom>
          <a:noFill/>
          <a:ln/>
        </p:spPr>
        <p:txBody>
          <a:bodyPr wrap="square" lIns="0" tIns="0" rIns="0" bIns="0" rtlCol="0" anchor="ctr"/>
          <a:lstStyle/>
          <a:p>
            <a:pPr algn="ctr" indent="0" marL="0">
              <a:buNone/>
            </a:pPr>
            <a:r>
              <a:rPr lang="en-US" sz="1800" b="1" dirty="0">
                <a:solidFill>
                  <a:schemeClr val="tx1"/>
                </a:solidFill>
              </a:rPr>
              <a:t>2. Valider</a:t>
            </a:r>
            <a:endParaRPr lang="en-US" sz="1800" dirty="0"/>
          </a:p>
        </p:txBody>
      </p:sp>
      <p:sp>
        <p:nvSpPr>
          <p:cNvPr id="12" name="Text 7"/>
          <p:cNvSpPr txBox="1"/>
          <p:nvPr/>
        </p:nvSpPr>
        <p:spPr>
          <a:xfrm>
            <a:off x="2423160" y="3611880"/>
            <a:ext cx="1691640" cy="1005840"/>
          </a:xfrm>
          <a:prstGeom prst="rect">
            <a:avLst/>
          </a:prstGeom>
          <a:noFill/>
          <a:ln/>
        </p:spPr>
        <p:txBody>
          <a:bodyPr wrap="square" lIns="0" tIns="0" rIns="0" bIns="0" rtlCol="0" anchor="t"/>
          <a:lstStyle/>
          <a:p>
            <a:pPr algn="ctr" indent="0" marL="0">
              <a:buNone/>
            </a:pPr>
            <a:r>
              <a:rPr lang="en-US" sz="1400" dirty="0">
                <a:solidFill>
                  <a:schemeClr val="accent6"/>
                </a:solidFill>
              </a:rPr>
              <a:t>La gestion vérifie la déclaration</a:t>
            </a:r>
            <a:endParaRPr lang="en-US" sz="1400" dirty="0"/>
          </a:p>
        </p:txBody>
      </p:sp>
      <p:pic>
        <p:nvPicPr>
          <p:cNvPr id="13" name="Image 3" descr="preencoded.png">    </p:cNvPr>
          <p:cNvPicPr>
            <a:picLocks noChangeAspect="1"/>
          </p:cNvPicPr>
          <p:nvPr/>
        </p:nvPicPr>
        <p:blipFill>
          <a:blip r:embed="rId4"/>
          <a:stretch>
            <a:fillRect/>
          </a:stretch>
        </p:blipFill>
        <p:spPr>
          <a:xfrm>
            <a:off x="4069080" y="2377440"/>
            <a:ext cx="274320" cy="274320"/>
          </a:xfrm>
          <a:prstGeom prst="rect">
            <a:avLst/>
          </a:prstGeom>
        </p:spPr>
      </p:pic>
      <p:sp>
        <p:nvSpPr>
          <p:cNvPr id="14" name="badge-LuWarehouse"/>
          <p:cNvSpPr/>
          <p:nvPr/>
        </p:nvSpPr>
        <p:spPr>
          <a:xfrm>
            <a:off x="4686300" y="2057400"/>
            <a:ext cx="914400" cy="914400"/>
          </a:xfrm>
          <a:prstGeom prst="ellipse">
            <a:avLst/>
          </a:prstGeom>
          <a:solidFill>
            <a:schemeClr val="accent1"/>
          </a:solidFill>
          <a:ln/>
        </p:spPr>
      </p:sp>
      <p:pic>
        <p:nvPicPr>
          <p:cNvPr id="15" name="Image 4" descr="preencoded.png">    </p:cNvPr>
          <p:cNvPicPr>
            <a:picLocks noChangeAspect="1"/>
          </p:cNvPicPr>
          <p:nvPr/>
        </p:nvPicPr>
        <p:blipFill>
          <a:blip r:embed="rId5"/>
          <a:stretch>
            <a:fillRect/>
          </a:stretch>
        </p:blipFill>
        <p:spPr>
          <a:xfrm>
            <a:off x="4914900" y="2286000"/>
            <a:ext cx="457200" cy="457200"/>
          </a:xfrm>
          <a:prstGeom prst="rect">
            <a:avLst/>
          </a:prstGeom>
        </p:spPr>
      </p:pic>
      <p:sp>
        <p:nvSpPr>
          <p:cNvPr id="16" name="Text 9"/>
          <p:cNvSpPr txBox="1"/>
          <p:nvPr/>
        </p:nvSpPr>
        <p:spPr>
          <a:xfrm>
            <a:off x="4297680" y="3154680"/>
            <a:ext cx="1691640" cy="411480"/>
          </a:xfrm>
          <a:prstGeom prst="rect">
            <a:avLst/>
          </a:prstGeom>
          <a:noFill/>
          <a:ln/>
        </p:spPr>
        <p:txBody>
          <a:bodyPr wrap="square" lIns="0" tIns="0" rIns="0" bIns="0" rtlCol="0" anchor="ctr"/>
          <a:lstStyle/>
          <a:p>
            <a:pPr algn="ctr" indent="0" marL="0">
              <a:buNone/>
            </a:pPr>
            <a:r>
              <a:rPr lang="en-US" sz="1800" b="1" dirty="0">
                <a:solidFill>
                  <a:schemeClr val="tx1"/>
                </a:solidFill>
              </a:rPr>
              <a:t>3. Stocker</a:t>
            </a:r>
            <a:endParaRPr lang="en-US" sz="1800" dirty="0"/>
          </a:p>
        </p:txBody>
      </p:sp>
      <p:sp>
        <p:nvSpPr>
          <p:cNvPr id="17" name="Text 10"/>
          <p:cNvSpPr txBox="1"/>
          <p:nvPr/>
        </p:nvSpPr>
        <p:spPr>
          <a:xfrm>
            <a:off x="4297680" y="3611880"/>
            <a:ext cx="1691640" cy="1005840"/>
          </a:xfrm>
          <a:prstGeom prst="rect">
            <a:avLst/>
          </a:prstGeom>
          <a:noFill/>
          <a:ln/>
        </p:spPr>
        <p:txBody>
          <a:bodyPr wrap="square" lIns="0" tIns="0" rIns="0" bIns="0" rtlCol="0" anchor="t"/>
          <a:lstStyle/>
          <a:p>
            <a:pPr algn="ctr" indent="0" marL="0">
              <a:buNone/>
            </a:pPr>
            <a:r>
              <a:rPr lang="en-US" sz="1400" dirty="0">
                <a:solidFill>
                  <a:schemeClr val="accent6"/>
                </a:solidFill>
              </a:rPr>
              <a:t>La collecte validée alimente le stock de matière</a:t>
            </a:r>
            <a:endParaRPr lang="en-US" sz="1400" dirty="0"/>
          </a:p>
        </p:txBody>
      </p:sp>
      <p:pic>
        <p:nvPicPr>
          <p:cNvPr id="18" name="Image 5" descr="preencoded.png">    </p:cNvPr>
          <p:cNvPicPr>
            <a:picLocks noChangeAspect="1"/>
          </p:cNvPicPr>
          <p:nvPr/>
        </p:nvPicPr>
        <p:blipFill>
          <a:blip r:embed="rId6"/>
          <a:stretch>
            <a:fillRect/>
          </a:stretch>
        </p:blipFill>
        <p:spPr>
          <a:xfrm>
            <a:off x="5943600" y="2377440"/>
            <a:ext cx="274320" cy="274320"/>
          </a:xfrm>
          <a:prstGeom prst="rect">
            <a:avLst/>
          </a:prstGeom>
        </p:spPr>
      </p:pic>
      <p:sp>
        <p:nvSpPr>
          <p:cNvPr id="19" name="badge-LuPackage"/>
          <p:cNvSpPr/>
          <p:nvPr/>
        </p:nvSpPr>
        <p:spPr>
          <a:xfrm>
            <a:off x="6560820" y="2057400"/>
            <a:ext cx="914400" cy="914400"/>
          </a:xfrm>
          <a:prstGeom prst="ellipse">
            <a:avLst/>
          </a:prstGeom>
          <a:solidFill>
            <a:schemeClr val="accent5"/>
          </a:solidFill>
          <a:ln/>
        </p:spPr>
      </p:sp>
      <p:pic>
        <p:nvPicPr>
          <p:cNvPr id="20" name="Image 6" descr="preencoded.png">    </p:cNvPr>
          <p:cNvPicPr>
            <a:picLocks noChangeAspect="1"/>
          </p:cNvPicPr>
          <p:nvPr/>
        </p:nvPicPr>
        <p:blipFill>
          <a:blip r:embed="rId7"/>
          <a:stretch>
            <a:fillRect/>
          </a:stretch>
        </p:blipFill>
        <p:spPr>
          <a:xfrm>
            <a:off x="6789420" y="2286000"/>
            <a:ext cx="457200" cy="457200"/>
          </a:xfrm>
          <a:prstGeom prst="rect">
            <a:avLst/>
          </a:prstGeom>
        </p:spPr>
      </p:pic>
      <p:sp>
        <p:nvSpPr>
          <p:cNvPr id="21" name="Text 12"/>
          <p:cNvSpPr txBox="1"/>
          <p:nvPr/>
        </p:nvSpPr>
        <p:spPr>
          <a:xfrm>
            <a:off x="6172200" y="3154680"/>
            <a:ext cx="1691640" cy="411480"/>
          </a:xfrm>
          <a:prstGeom prst="rect">
            <a:avLst/>
          </a:prstGeom>
          <a:noFill/>
          <a:ln/>
        </p:spPr>
        <p:txBody>
          <a:bodyPr wrap="square" lIns="0" tIns="0" rIns="0" bIns="0" rtlCol="0" anchor="ctr"/>
          <a:lstStyle/>
          <a:p>
            <a:pPr algn="ctr" indent="0" marL="0">
              <a:buNone/>
            </a:pPr>
            <a:r>
              <a:rPr lang="en-US" sz="1800" b="1" dirty="0">
                <a:solidFill>
                  <a:schemeClr val="tx1"/>
                </a:solidFill>
              </a:rPr>
              <a:t>4. Publier</a:t>
            </a:r>
            <a:endParaRPr lang="en-US" sz="1800" dirty="0"/>
          </a:p>
        </p:txBody>
      </p:sp>
      <p:sp>
        <p:nvSpPr>
          <p:cNvPr id="22" name="Text 13"/>
          <p:cNvSpPr txBox="1"/>
          <p:nvPr/>
        </p:nvSpPr>
        <p:spPr>
          <a:xfrm>
            <a:off x="6172200" y="3611880"/>
            <a:ext cx="1691640" cy="1005840"/>
          </a:xfrm>
          <a:prstGeom prst="rect">
            <a:avLst/>
          </a:prstGeom>
          <a:noFill/>
          <a:ln/>
        </p:spPr>
        <p:txBody>
          <a:bodyPr wrap="square" lIns="0" tIns="0" rIns="0" bIns="0" rtlCol="0" anchor="t"/>
          <a:lstStyle/>
          <a:p>
            <a:pPr algn="ctr" indent="0" marL="0">
              <a:buNone/>
            </a:pPr>
            <a:r>
              <a:rPr lang="en-US" sz="1400" dirty="0">
                <a:solidFill>
                  <a:schemeClr val="accent6"/>
                </a:solidFill>
              </a:rPr>
              <a:t>Les objets fabriqués entrent au catalogue</a:t>
            </a:r>
            <a:endParaRPr lang="en-US" sz="1400" dirty="0"/>
          </a:p>
        </p:txBody>
      </p:sp>
      <p:pic>
        <p:nvPicPr>
          <p:cNvPr id="23" name="Image 7" descr="preencoded.png">    </p:cNvPr>
          <p:cNvPicPr>
            <a:picLocks noChangeAspect="1"/>
          </p:cNvPicPr>
          <p:nvPr/>
        </p:nvPicPr>
        <p:blipFill>
          <a:blip r:embed="rId8"/>
          <a:stretch>
            <a:fillRect/>
          </a:stretch>
        </p:blipFill>
        <p:spPr>
          <a:xfrm>
            <a:off x="7818120" y="2377440"/>
            <a:ext cx="274320" cy="274320"/>
          </a:xfrm>
          <a:prstGeom prst="rect">
            <a:avLst/>
          </a:prstGeom>
        </p:spPr>
      </p:pic>
      <p:sp>
        <p:nvSpPr>
          <p:cNvPr id="24" name="badge-LuCreditCard"/>
          <p:cNvSpPr/>
          <p:nvPr/>
        </p:nvSpPr>
        <p:spPr>
          <a:xfrm>
            <a:off x="8435340" y="2057400"/>
            <a:ext cx="914400" cy="914400"/>
          </a:xfrm>
          <a:prstGeom prst="ellipse">
            <a:avLst/>
          </a:prstGeom>
          <a:solidFill>
            <a:schemeClr val="accent5"/>
          </a:solidFill>
          <a:ln/>
        </p:spPr>
      </p:sp>
      <p:pic>
        <p:nvPicPr>
          <p:cNvPr id="25" name="Image 8" descr="preencoded.png">    </p:cNvPr>
          <p:cNvPicPr>
            <a:picLocks noChangeAspect="1"/>
          </p:cNvPicPr>
          <p:nvPr/>
        </p:nvPicPr>
        <p:blipFill>
          <a:blip r:embed="rId9"/>
          <a:stretch>
            <a:fillRect/>
          </a:stretch>
        </p:blipFill>
        <p:spPr>
          <a:xfrm>
            <a:off x="8663940" y="2286000"/>
            <a:ext cx="457200" cy="457200"/>
          </a:xfrm>
          <a:prstGeom prst="rect">
            <a:avLst/>
          </a:prstGeom>
        </p:spPr>
      </p:pic>
      <p:sp>
        <p:nvSpPr>
          <p:cNvPr id="26" name="Text 15"/>
          <p:cNvSpPr txBox="1"/>
          <p:nvPr/>
        </p:nvSpPr>
        <p:spPr>
          <a:xfrm>
            <a:off x="8046720" y="3154680"/>
            <a:ext cx="1691640" cy="411480"/>
          </a:xfrm>
          <a:prstGeom prst="rect">
            <a:avLst/>
          </a:prstGeom>
          <a:noFill/>
          <a:ln/>
        </p:spPr>
        <p:txBody>
          <a:bodyPr wrap="square" lIns="0" tIns="0" rIns="0" bIns="0" rtlCol="0" anchor="ctr"/>
          <a:lstStyle/>
          <a:p>
            <a:pPr algn="ctr" indent="0" marL="0">
              <a:buNone/>
            </a:pPr>
            <a:r>
              <a:rPr lang="en-US" sz="1800" b="1" dirty="0">
                <a:solidFill>
                  <a:schemeClr val="tx1"/>
                </a:solidFill>
              </a:rPr>
              <a:t>5. Payer</a:t>
            </a:r>
            <a:endParaRPr lang="en-US" sz="1800" dirty="0"/>
          </a:p>
        </p:txBody>
      </p:sp>
      <p:sp>
        <p:nvSpPr>
          <p:cNvPr id="27" name="Text 16"/>
          <p:cNvSpPr txBox="1"/>
          <p:nvPr/>
        </p:nvSpPr>
        <p:spPr>
          <a:xfrm>
            <a:off x="8046720" y="3611880"/>
            <a:ext cx="1691640" cy="1005840"/>
          </a:xfrm>
          <a:prstGeom prst="rect">
            <a:avLst/>
          </a:prstGeom>
          <a:noFill/>
          <a:ln/>
        </p:spPr>
        <p:txBody>
          <a:bodyPr wrap="square" lIns="0" tIns="0" rIns="0" bIns="0" rtlCol="0" anchor="t"/>
          <a:lstStyle/>
          <a:p>
            <a:pPr algn="ctr" indent="0" marL="0">
              <a:buNone/>
            </a:pPr>
            <a:r>
              <a:rPr lang="en-US" sz="1400" dirty="0">
                <a:solidFill>
                  <a:schemeClr val="accent6"/>
                </a:solidFill>
              </a:rPr>
              <a:t>Le client commande et paie via PayDunya</a:t>
            </a:r>
            <a:endParaRPr lang="en-US" sz="1400" dirty="0"/>
          </a:p>
        </p:txBody>
      </p:sp>
      <p:pic>
        <p:nvPicPr>
          <p:cNvPr id="28" name="Image 9" descr="preencoded.png">    </p:cNvPr>
          <p:cNvPicPr>
            <a:picLocks noChangeAspect="1"/>
          </p:cNvPicPr>
          <p:nvPr/>
        </p:nvPicPr>
        <p:blipFill>
          <a:blip r:embed="rId10"/>
          <a:stretch>
            <a:fillRect/>
          </a:stretch>
        </p:blipFill>
        <p:spPr>
          <a:xfrm>
            <a:off x="9692640" y="2377440"/>
            <a:ext cx="274320" cy="274320"/>
          </a:xfrm>
          <a:prstGeom prst="rect">
            <a:avLst/>
          </a:prstGeom>
        </p:spPr>
      </p:pic>
      <p:sp>
        <p:nvSpPr>
          <p:cNvPr id="29" name="badge-LuTruck"/>
          <p:cNvSpPr/>
          <p:nvPr/>
        </p:nvSpPr>
        <p:spPr>
          <a:xfrm>
            <a:off x="10309860" y="2057400"/>
            <a:ext cx="914400" cy="914400"/>
          </a:xfrm>
          <a:prstGeom prst="ellipse">
            <a:avLst/>
          </a:prstGeom>
          <a:solidFill>
            <a:schemeClr val="accent5"/>
          </a:solidFill>
          <a:ln/>
        </p:spPr>
      </p:sp>
      <p:pic>
        <p:nvPicPr>
          <p:cNvPr id="30" name="Image 10" descr="preencoded.png">    </p:cNvPr>
          <p:cNvPicPr>
            <a:picLocks noChangeAspect="1"/>
          </p:cNvPicPr>
          <p:nvPr/>
        </p:nvPicPr>
        <p:blipFill>
          <a:blip r:embed="rId11"/>
          <a:stretch>
            <a:fillRect/>
          </a:stretch>
        </p:blipFill>
        <p:spPr>
          <a:xfrm>
            <a:off x="10538460" y="2286000"/>
            <a:ext cx="457200" cy="457200"/>
          </a:xfrm>
          <a:prstGeom prst="rect">
            <a:avLst/>
          </a:prstGeom>
        </p:spPr>
      </p:pic>
      <p:sp>
        <p:nvSpPr>
          <p:cNvPr id="31" name="Text 18"/>
          <p:cNvSpPr txBox="1"/>
          <p:nvPr/>
        </p:nvSpPr>
        <p:spPr>
          <a:xfrm>
            <a:off x="9921240" y="3154680"/>
            <a:ext cx="1691640" cy="411480"/>
          </a:xfrm>
          <a:prstGeom prst="rect">
            <a:avLst/>
          </a:prstGeom>
          <a:noFill/>
          <a:ln/>
        </p:spPr>
        <p:txBody>
          <a:bodyPr wrap="square" lIns="0" tIns="0" rIns="0" bIns="0" rtlCol="0" anchor="ctr"/>
          <a:lstStyle/>
          <a:p>
            <a:pPr algn="ctr" indent="0" marL="0">
              <a:buNone/>
            </a:pPr>
            <a:r>
              <a:rPr lang="en-US" sz="1800" b="1" dirty="0">
                <a:solidFill>
                  <a:schemeClr val="tx1"/>
                </a:solidFill>
              </a:rPr>
              <a:t>6. Suivre</a:t>
            </a:r>
            <a:endParaRPr lang="en-US" sz="1800" dirty="0"/>
          </a:p>
        </p:txBody>
      </p:sp>
      <p:sp>
        <p:nvSpPr>
          <p:cNvPr id="32" name="Text 19"/>
          <p:cNvSpPr txBox="1"/>
          <p:nvPr/>
        </p:nvSpPr>
        <p:spPr>
          <a:xfrm>
            <a:off x="9921240" y="3611880"/>
            <a:ext cx="1691640" cy="1005840"/>
          </a:xfrm>
          <a:prstGeom prst="rect">
            <a:avLst/>
          </a:prstGeom>
          <a:noFill/>
          <a:ln/>
        </p:spPr>
        <p:txBody>
          <a:bodyPr wrap="square" lIns="0" tIns="0" rIns="0" bIns="0" rtlCol="0" anchor="t"/>
          <a:lstStyle/>
          <a:p>
            <a:pPr algn="ctr" indent="0" marL="0">
              <a:buNone/>
            </a:pPr>
            <a:r>
              <a:rPr lang="en-US" sz="1400" dirty="0">
                <a:solidFill>
                  <a:schemeClr val="accent6"/>
                </a:solidFill>
              </a:rPr>
              <a:t>Statut de commande visible par le client et la gestion</a:t>
            </a:r>
            <a:endParaRPr lang="en-US" sz="1400" dirty="0"/>
          </a:p>
        </p:txBody>
      </p:sp>
      <p:sp>
        <p:nvSpPr>
          <p:cNvPr id="33" name="statuts"/>
          <p:cNvSpPr/>
          <p:nvPr/>
        </p:nvSpPr>
        <p:spPr>
          <a:xfrm>
            <a:off x="548640" y="4983480"/>
            <a:ext cx="11064240" cy="1051560"/>
          </a:xfrm>
          <a:prstGeom prst="roundRect">
            <a:avLst>
              <a:gd name="adj" fmla="val 10435"/>
            </a:avLst>
          </a:prstGeom>
          <a:solidFill>
            <a:schemeClr val="bg2"/>
          </a:solidFill>
          <a:ln/>
        </p:spPr>
      </p:sp>
      <p:sp>
        <p:nvSpPr>
          <p:cNvPr id="34" name="Text 21"/>
          <p:cNvSpPr txBox="1"/>
          <p:nvPr/>
        </p:nvSpPr>
        <p:spPr>
          <a:xfrm>
            <a:off x="822960" y="4983480"/>
            <a:ext cx="2743200" cy="1051560"/>
          </a:xfrm>
          <a:prstGeom prst="rect">
            <a:avLst/>
          </a:prstGeom>
          <a:noFill/>
          <a:ln/>
        </p:spPr>
        <p:txBody>
          <a:bodyPr wrap="square" lIns="0" tIns="0" rIns="0" bIns="0" rtlCol="0" anchor="ctr"/>
          <a:lstStyle/>
          <a:p>
            <a:pPr indent="0" marL="0">
              <a:buNone/>
            </a:pPr>
            <a:r>
              <a:rPr lang="en-US" sz="1600" b="1" dirty="0">
                <a:solidFill>
                  <a:schemeClr val="tx1"/>
                </a:solidFill>
              </a:rPr>
              <a:t>Statuts d'une collecte</a:t>
            </a:r>
            <a:endParaRPr lang="en-US" sz="1600" dirty="0"/>
          </a:p>
        </p:txBody>
      </p:sp>
      <p:sp>
        <p:nvSpPr>
          <p:cNvPr id="35" name="Shape 22"/>
          <p:cNvSpPr/>
          <p:nvPr/>
        </p:nvSpPr>
        <p:spPr>
          <a:xfrm>
            <a:off x="3291840" y="5303520"/>
            <a:ext cx="1554480" cy="411480"/>
          </a:xfrm>
          <a:prstGeom prst="roundRect">
            <a:avLst>
              <a:gd name="adj" fmla="val 48889"/>
            </a:avLst>
          </a:prstGeom>
          <a:solidFill>
            <a:srgbClr val="DCFCE7"/>
          </a:solidFill>
          <a:ln/>
        </p:spPr>
      </p:sp>
      <p:sp>
        <p:nvSpPr>
          <p:cNvPr id="36" name="Text 23"/>
          <p:cNvSpPr txBox="1"/>
          <p:nvPr/>
        </p:nvSpPr>
        <p:spPr>
          <a:xfrm>
            <a:off x="3291840" y="5303520"/>
            <a:ext cx="1554480" cy="411480"/>
          </a:xfrm>
          <a:prstGeom prst="rect">
            <a:avLst/>
          </a:prstGeom>
          <a:noFill/>
          <a:ln/>
        </p:spPr>
        <p:txBody>
          <a:bodyPr wrap="square" lIns="0" tIns="0" rIns="0" bIns="0" rtlCol="0" anchor="ctr"/>
          <a:lstStyle/>
          <a:p>
            <a:pPr algn="ctr" indent="0" marL="0">
              <a:buNone/>
            </a:pPr>
            <a:r>
              <a:rPr lang="en-US" sz="1400" b="1" dirty="0">
                <a:solidFill>
                  <a:schemeClr val="accent5"/>
                </a:solidFill>
              </a:rPr>
              <a:t>DÉCLARÉE</a:t>
            </a:r>
            <a:endParaRPr lang="en-US" sz="1400" dirty="0"/>
          </a:p>
        </p:txBody>
      </p:sp>
      <p:pic>
        <p:nvPicPr>
          <p:cNvPr id="37" name="Image 11" descr="preencoded.png">    </p:cNvPr>
          <p:cNvPicPr>
            <a:picLocks noChangeAspect="1"/>
          </p:cNvPicPr>
          <p:nvPr/>
        </p:nvPicPr>
        <p:blipFill>
          <a:blip r:embed="rId12"/>
          <a:stretch>
            <a:fillRect/>
          </a:stretch>
        </p:blipFill>
        <p:spPr>
          <a:xfrm>
            <a:off x="5029200" y="5376672"/>
            <a:ext cx="274320" cy="274320"/>
          </a:xfrm>
          <a:prstGeom prst="rect">
            <a:avLst/>
          </a:prstGeom>
        </p:spPr>
      </p:pic>
      <p:sp>
        <p:nvSpPr>
          <p:cNvPr id="38" name="Shape 24"/>
          <p:cNvSpPr/>
          <p:nvPr/>
        </p:nvSpPr>
        <p:spPr>
          <a:xfrm>
            <a:off x="5486400" y="5303520"/>
            <a:ext cx="1554480" cy="411480"/>
          </a:xfrm>
          <a:prstGeom prst="roundRect">
            <a:avLst>
              <a:gd name="adj" fmla="val 48889"/>
            </a:avLst>
          </a:prstGeom>
          <a:solidFill>
            <a:srgbClr val="DCFCE7"/>
          </a:solidFill>
          <a:ln/>
        </p:spPr>
      </p:sp>
      <p:sp>
        <p:nvSpPr>
          <p:cNvPr id="39" name="Text 25"/>
          <p:cNvSpPr txBox="1"/>
          <p:nvPr/>
        </p:nvSpPr>
        <p:spPr>
          <a:xfrm>
            <a:off x="5486400" y="5303520"/>
            <a:ext cx="1554480" cy="411480"/>
          </a:xfrm>
          <a:prstGeom prst="rect">
            <a:avLst/>
          </a:prstGeom>
          <a:noFill/>
          <a:ln/>
        </p:spPr>
        <p:txBody>
          <a:bodyPr wrap="square" lIns="0" tIns="0" rIns="0" bIns="0" rtlCol="0" anchor="ctr"/>
          <a:lstStyle/>
          <a:p>
            <a:pPr algn="ctr" indent="0" marL="0">
              <a:buNone/>
            </a:pPr>
            <a:r>
              <a:rPr lang="en-US" sz="1400" b="1" dirty="0">
                <a:solidFill>
                  <a:schemeClr val="accent5"/>
                </a:solidFill>
              </a:rPr>
              <a:t>VALIDÉE</a:t>
            </a:r>
            <a:endParaRPr lang="en-US" sz="1400" dirty="0"/>
          </a:p>
        </p:txBody>
      </p:sp>
      <p:pic>
        <p:nvPicPr>
          <p:cNvPr id="40" name="Image 12" descr="preencoded.png">    </p:cNvPr>
          <p:cNvPicPr>
            <a:picLocks noChangeAspect="1"/>
          </p:cNvPicPr>
          <p:nvPr/>
        </p:nvPicPr>
        <p:blipFill>
          <a:blip r:embed="rId13"/>
          <a:stretch>
            <a:fillRect/>
          </a:stretch>
        </p:blipFill>
        <p:spPr>
          <a:xfrm>
            <a:off x="7223760" y="5376672"/>
            <a:ext cx="274320" cy="274320"/>
          </a:xfrm>
          <a:prstGeom prst="rect">
            <a:avLst/>
          </a:prstGeom>
        </p:spPr>
      </p:pic>
      <p:sp>
        <p:nvSpPr>
          <p:cNvPr id="41" name="Shape 26"/>
          <p:cNvSpPr/>
          <p:nvPr/>
        </p:nvSpPr>
        <p:spPr>
          <a:xfrm>
            <a:off x="7680960" y="5303520"/>
            <a:ext cx="1554480" cy="411480"/>
          </a:xfrm>
          <a:prstGeom prst="roundRect">
            <a:avLst>
              <a:gd name="adj" fmla="val 48889"/>
            </a:avLst>
          </a:prstGeom>
          <a:solidFill>
            <a:srgbClr val="15803D"/>
          </a:solidFill>
          <a:ln/>
        </p:spPr>
      </p:sp>
      <p:sp>
        <p:nvSpPr>
          <p:cNvPr id="42" name="Text 27"/>
          <p:cNvSpPr txBox="1"/>
          <p:nvPr/>
        </p:nvSpPr>
        <p:spPr>
          <a:xfrm>
            <a:off x="7680960" y="5303520"/>
            <a:ext cx="1554480" cy="411480"/>
          </a:xfrm>
          <a:prstGeom prst="rect">
            <a:avLst/>
          </a:prstGeom>
          <a:noFill/>
          <a:ln/>
        </p:spPr>
        <p:txBody>
          <a:bodyPr wrap="square" lIns="0" tIns="0" rIns="0" bIns="0" rtlCol="0" anchor="ctr"/>
          <a:lstStyle/>
          <a:p>
            <a:pPr algn="ctr" indent="0" marL="0">
              <a:buNone/>
            </a:pPr>
            <a:r>
              <a:rPr lang="en-US" sz="1400" b="1" dirty="0">
                <a:solidFill>
                  <a:schemeClr val="bg1"/>
                </a:solidFill>
              </a:rPr>
              <a:t>TRAITÉE</a:t>
            </a:r>
            <a:endParaRPr lang="en-US" sz="1400" dirty="0"/>
          </a:p>
        </p:txBody>
      </p:sp>
      <p:sp>
        <p:nvSpPr>
          <p:cNvPr id="43" name="Text 28"/>
          <p:cNvSpPr txBox="1"/>
          <p:nvPr/>
        </p:nvSpPr>
        <p:spPr>
          <a:xfrm>
            <a:off x="9509760" y="5074920"/>
            <a:ext cx="1920240" cy="868680"/>
          </a:xfrm>
          <a:prstGeom prst="rect">
            <a:avLst/>
          </a:prstGeom>
          <a:noFill/>
          <a:ln/>
        </p:spPr>
        <p:txBody>
          <a:bodyPr wrap="square" lIns="0" tIns="0" rIns="0" bIns="0" rtlCol="0" anchor="ctr"/>
          <a:lstStyle/>
          <a:p>
            <a:pPr indent="0" marL="0">
              <a:buNone/>
            </a:pPr>
            <a:r>
              <a:rPr lang="en-US" sz="1300" i="1" dirty="0">
                <a:solidFill>
                  <a:schemeClr val="accent6"/>
                </a:solidFill>
              </a:rPr>
              <a:t>Une collecte validée n'est plus modifiable par le collecteur</a:t>
            </a:r>
            <a:endParaRPr lang="en-US" sz="1300" dirty="0"/>
          </a:p>
        </p:txBody>
      </p:sp>
      <p:sp>
        <p:nvSpPr>
          <p:cNvPr id="25" name="Slide Number Placeholder 0"/>
          <p:cNvSpPr>
            <a:spLocks noGrp="1"/>
          </p:cNvSpPr>
          <p:nvPr>
            <p:ph type="sldNum" sz="quarter" idx="4294967295"/>
          </p:nvPr>
        </p:nvSpPr>
        <p:spPr>
          <a:xfrm>
            <a:off x="11155680" y="6327648"/>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85800"/>
          </a:xfrm>
          <a:prstGeom prst="rect">
            <a:avLst/>
          </a:prstGeom>
          <a:noFill/>
          <a:ln/>
        </p:spPr>
        <p:txBody>
          <a:bodyPr wrap="square" lIns="0" tIns="0" rIns="0" bIns="0" rtlCol="0" anchor="ctr"/>
          <a:lstStyle/>
          <a:p>
            <a:pPr algn="l" indent="0" marL="0">
              <a:buNone/>
            </a:pPr>
            <a:r>
              <a:rPr lang="en-US" sz="3600" b="1" dirty="0">
                <a:solidFill>
                  <a:schemeClr val="tx1"/>
                </a:solidFill>
              </a:rPr>
              <a:t>Une architecture simple, à la taille du projet</a:t>
            </a:r>
            <a:endParaRPr lang="en-US" sz="3600" dirty="0"/>
          </a:p>
        </p:txBody>
      </p:sp>
      <p:sp>
        <p:nvSpPr>
          <p:cNvPr id="3" name="Text 0"/>
          <p:cNvSpPr/>
          <p:nvPr>
            <p:ph idx="101" type="body" hasCustomPrompt="1"/>
          </p:nvPr>
        </p:nvSpPr>
        <p:spPr>
          <a:xfrm>
            <a:off x="548640" y="1051560"/>
            <a:ext cx="11064240" cy="457200"/>
          </a:xfrm>
          <a:prstGeom prst="rect">
            <a:avLst/>
          </a:prstGeom>
          <a:noFill/>
          <a:ln/>
        </p:spPr>
        <p:txBody>
          <a:bodyPr wrap="square" lIns="0" tIns="0" rIns="0" bIns="0" rtlCol="0" anchor="t"/>
          <a:lstStyle/>
          <a:p>
            <a:pPr indent="0" marL="0">
              <a:buNone/>
            </a:pPr>
            <a:r>
              <a:rPr lang="en-US" sz="1800" dirty="0">
                <a:solidFill>
                  <a:schemeClr val="accent6"/>
                </a:solidFill>
              </a:rPr>
              <a:t>Monolithe modulaire : un package par pilier, une seule base, un seul déploiement</a:t>
            </a:r>
            <a:endParaRPr lang="en-US" sz="1800" dirty="0"/>
          </a:p>
        </p:txBody>
      </p:sp>
      <p:sp>
        <p:nvSpPr>
          <p:cNvPr id="4" name="front"/>
          <p:cNvSpPr/>
          <p:nvPr/>
        </p:nvSpPr>
        <p:spPr>
          <a:xfrm>
            <a:off x="548640" y="2011680"/>
            <a:ext cx="2834640" cy="2926080"/>
          </a:xfrm>
          <a:prstGeom prst="roundRect">
            <a:avLst>
              <a:gd name="adj" fmla="val 3871"/>
            </a:avLst>
          </a:prstGeom>
          <a:solidFill>
            <a:schemeClr val="bg2"/>
          </a:solidFill>
          <a:ln/>
        </p:spPr>
      </p:sp>
      <p:sp>
        <p:nvSpPr>
          <p:cNvPr id="5" name="badge-LuMonitorSmartphone"/>
          <p:cNvSpPr/>
          <p:nvPr/>
        </p:nvSpPr>
        <p:spPr>
          <a:xfrm>
            <a:off x="822960" y="2240280"/>
            <a:ext cx="685800" cy="68580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94410" y="2411730"/>
            <a:ext cx="342900" cy="342900"/>
          </a:xfrm>
          <a:prstGeom prst="rect">
            <a:avLst/>
          </a:prstGeom>
        </p:spPr>
      </p:pic>
      <p:sp>
        <p:nvSpPr>
          <p:cNvPr id="7" name="Text 4"/>
          <p:cNvSpPr txBox="1"/>
          <p:nvPr/>
        </p:nvSpPr>
        <p:spPr>
          <a:xfrm>
            <a:off x="1645920" y="2148840"/>
            <a:ext cx="1645920" cy="365760"/>
          </a:xfrm>
          <a:prstGeom prst="rect">
            <a:avLst/>
          </a:prstGeom>
          <a:noFill/>
          <a:ln/>
        </p:spPr>
        <p:txBody>
          <a:bodyPr wrap="square" lIns="0" tIns="0" rIns="0" bIns="0" rtlCol="0" anchor="ctr"/>
          <a:lstStyle/>
          <a:p>
            <a:pPr indent="0" marL="0">
              <a:buNone/>
            </a:pPr>
            <a:r>
              <a:rPr lang="en-US" sz="1800" b="1" dirty="0">
                <a:solidFill>
                  <a:schemeClr val="tx1"/>
                </a:solidFill>
              </a:rPr>
              <a:t>Frontend</a:t>
            </a:r>
            <a:endParaRPr lang="en-US" sz="1800" dirty="0"/>
          </a:p>
        </p:txBody>
      </p:sp>
      <p:sp>
        <p:nvSpPr>
          <p:cNvPr id="8" name="Text 5"/>
          <p:cNvSpPr txBox="1"/>
          <p:nvPr/>
        </p:nvSpPr>
        <p:spPr>
          <a:xfrm>
            <a:off x="1645920" y="2514600"/>
            <a:ext cx="1645920" cy="320040"/>
          </a:xfrm>
          <a:prstGeom prst="rect">
            <a:avLst/>
          </a:prstGeom>
          <a:noFill/>
          <a:ln/>
        </p:spPr>
        <p:txBody>
          <a:bodyPr wrap="square" lIns="0" tIns="0" rIns="0" bIns="0" rtlCol="0" anchor="ctr"/>
          <a:lstStyle/>
          <a:p>
            <a:pPr indent="0" marL="0">
              <a:buNone/>
            </a:pPr>
            <a:r>
              <a:rPr lang="en-US" sz="1400" dirty="0">
                <a:solidFill>
                  <a:schemeClr val="accent6"/>
                </a:solidFill>
              </a:rPr>
              <a:t>Angular 20</a:t>
            </a:r>
            <a:endParaRPr lang="en-US" sz="1400" dirty="0"/>
          </a:p>
        </p:txBody>
      </p:sp>
      <p:sp>
        <p:nvSpPr>
          <p:cNvPr id="9" name="Text 6"/>
          <p:cNvSpPr txBox="1"/>
          <p:nvPr/>
        </p:nvSpPr>
        <p:spPr>
          <a:xfrm>
            <a:off x="822960" y="3108960"/>
            <a:ext cx="2423160" cy="16459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Composants standalone</a:t>
            </a:r>
            <a:endParaRPr lang="en-US" sz="1400" dirty="0"/>
          </a:p>
          <a:p>
            <a:pPr marL="177800" indent="-177800">
              <a:spcAft>
                <a:spcPts val="600"/>
              </a:spcAft>
              <a:buSzPct val="100000"/>
              <a:buChar char="•"/>
            </a:pPr>
            <a:r>
              <a:rPr lang="en-US" sz="1400" dirty="0">
                <a:solidFill>
                  <a:schemeClr val="tx1"/>
                </a:solidFill>
              </a:rPr>
              <a:t>PWA collecteur, IndexedDB hors ligne</a:t>
            </a:r>
            <a:endParaRPr lang="en-US" sz="1400" dirty="0"/>
          </a:p>
          <a:p>
            <a:pPr marL="177800" indent="-177800">
              <a:spcAft>
                <a:spcPts val="600"/>
              </a:spcAft>
              <a:buSzPct val="100000"/>
              <a:buChar char="•"/>
            </a:pPr>
            <a:r>
              <a:rPr lang="en-US" sz="1400" dirty="0">
                <a:solidFill>
                  <a:schemeClr val="tx1"/>
                </a:solidFill>
              </a:rPr>
              <a:t>Responsive dès 360 px</a:t>
            </a:r>
            <a:endParaRPr lang="en-US" sz="1400" dirty="0"/>
          </a:p>
        </p:txBody>
      </p:sp>
      <p:sp>
        <p:nvSpPr>
          <p:cNvPr id="10" name="Shape 7"/>
          <p:cNvSpPr/>
          <p:nvPr/>
        </p:nvSpPr>
        <p:spPr>
          <a:xfrm>
            <a:off x="3429000" y="3474720"/>
            <a:ext cx="731520" cy="0"/>
          </a:xfrm>
          <a:prstGeom prst="line">
            <a:avLst/>
          </a:prstGeom>
          <a:noFill/>
          <a:ln w="25400">
            <a:solidFill>
              <a:srgbClr val="15803D"/>
            </a:solidFill>
            <a:prstDash val="solid"/>
            <a:headEnd type="triangle"/>
            <a:tailEnd type="triangle"/>
          </a:ln>
        </p:spPr>
      </p:sp>
      <p:sp>
        <p:nvSpPr>
          <p:cNvPr id="11" name="Text 8"/>
          <p:cNvSpPr txBox="1"/>
          <p:nvPr/>
        </p:nvSpPr>
        <p:spPr>
          <a:xfrm>
            <a:off x="3291840" y="3063240"/>
            <a:ext cx="1005840" cy="320040"/>
          </a:xfrm>
          <a:prstGeom prst="rect">
            <a:avLst/>
          </a:prstGeom>
          <a:noFill/>
          <a:ln/>
        </p:spPr>
        <p:txBody>
          <a:bodyPr wrap="square" lIns="0" tIns="0" rIns="0" bIns="0" rtlCol="0" anchor="ctr"/>
          <a:lstStyle/>
          <a:p>
            <a:pPr algn="ctr" indent="0" marL="0">
              <a:buNone/>
            </a:pPr>
            <a:r>
              <a:rPr lang="en-US" sz="1100" dirty="0">
                <a:solidFill>
                  <a:schemeClr val="accent6"/>
                </a:solidFill>
              </a:rPr>
              <a:t>REST + JWT</a:t>
            </a:r>
            <a:endParaRPr lang="en-US" sz="1100" dirty="0"/>
          </a:p>
        </p:txBody>
      </p:sp>
      <p:sp>
        <p:nvSpPr>
          <p:cNvPr id="12" name="back"/>
          <p:cNvSpPr/>
          <p:nvPr/>
        </p:nvSpPr>
        <p:spPr>
          <a:xfrm>
            <a:off x="4206240" y="2011680"/>
            <a:ext cx="4206240" cy="2926080"/>
          </a:xfrm>
          <a:prstGeom prst="roundRect">
            <a:avLst>
              <a:gd name="adj" fmla="val 3750"/>
            </a:avLst>
          </a:prstGeom>
          <a:solidFill>
            <a:schemeClr val="bg2"/>
          </a:solidFill>
          <a:ln/>
        </p:spPr>
      </p:sp>
      <p:sp>
        <p:nvSpPr>
          <p:cNvPr id="13" name="badge-LuServer"/>
          <p:cNvSpPr/>
          <p:nvPr/>
        </p:nvSpPr>
        <p:spPr>
          <a:xfrm>
            <a:off x="4480560" y="2240280"/>
            <a:ext cx="685800" cy="685800"/>
          </a:xfrm>
          <a:prstGeom prst="ellipse">
            <a:avLst/>
          </a:prstGeom>
          <a:solidFill>
            <a:schemeClr val="accent1"/>
          </a:solidFill>
          <a:ln/>
        </p:spPr>
      </p:sp>
      <p:pic>
        <p:nvPicPr>
          <p:cNvPr id="14" name="Image 1" descr="preencoded.png">    </p:cNvPr>
          <p:cNvPicPr>
            <a:picLocks noChangeAspect="1"/>
          </p:cNvPicPr>
          <p:nvPr/>
        </p:nvPicPr>
        <p:blipFill>
          <a:blip r:embed="rId2"/>
          <a:stretch>
            <a:fillRect/>
          </a:stretch>
        </p:blipFill>
        <p:spPr>
          <a:xfrm>
            <a:off x="4652010" y="2411730"/>
            <a:ext cx="342900" cy="342900"/>
          </a:xfrm>
          <a:prstGeom prst="rect">
            <a:avLst/>
          </a:prstGeom>
        </p:spPr>
      </p:pic>
      <p:sp>
        <p:nvSpPr>
          <p:cNvPr id="15" name="Text 11"/>
          <p:cNvSpPr txBox="1"/>
          <p:nvPr/>
        </p:nvSpPr>
        <p:spPr>
          <a:xfrm>
            <a:off x="5303520" y="2148840"/>
            <a:ext cx="2926080" cy="365760"/>
          </a:xfrm>
          <a:prstGeom prst="rect">
            <a:avLst/>
          </a:prstGeom>
          <a:noFill/>
          <a:ln/>
        </p:spPr>
        <p:txBody>
          <a:bodyPr wrap="square" lIns="0" tIns="0" rIns="0" bIns="0" rtlCol="0" anchor="ctr"/>
          <a:lstStyle/>
          <a:p>
            <a:pPr indent="0" marL="0">
              <a:buNone/>
            </a:pPr>
            <a:r>
              <a:rPr lang="en-US" sz="1800" b="1" dirty="0">
                <a:solidFill>
                  <a:schemeClr val="tx1"/>
                </a:solidFill>
              </a:rPr>
              <a:t>Backend</a:t>
            </a:r>
            <a:endParaRPr lang="en-US" sz="1800" dirty="0"/>
          </a:p>
        </p:txBody>
      </p:sp>
      <p:sp>
        <p:nvSpPr>
          <p:cNvPr id="16" name="Text 12"/>
          <p:cNvSpPr txBox="1"/>
          <p:nvPr/>
        </p:nvSpPr>
        <p:spPr>
          <a:xfrm>
            <a:off x="5303520" y="2514600"/>
            <a:ext cx="2926080" cy="320040"/>
          </a:xfrm>
          <a:prstGeom prst="rect">
            <a:avLst/>
          </a:prstGeom>
          <a:noFill/>
          <a:ln/>
        </p:spPr>
        <p:txBody>
          <a:bodyPr wrap="square" lIns="0" tIns="0" rIns="0" bIns="0" rtlCol="0" anchor="ctr"/>
          <a:lstStyle/>
          <a:p>
            <a:pPr indent="0" marL="0">
              <a:buNone/>
            </a:pPr>
            <a:r>
              <a:rPr lang="en-US" sz="1400" dirty="0">
                <a:solidFill>
                  <a:schemeClr val="accent6"/>
                </a:solidFill>
              </a:rPr>
              <a:t>Spring Boot 3.3 · Java 21</a:t>
            </a:r>
            <a:endParaRPr lang="en-US" sz="1400" dirty="0"/>
          </a:p>
        </p:txBody>
      </p:sp>
      <p:sp>
        <p:nvSpPr>
          <p:cNvPr id="17" name="Shape 13"/>
          <p:cNvSpPr/>
          <p:nvPr/>
        </p:nvSpPr>
        <p:spPr>
          <a:xfrm>
            <a:off x="4480560" y="3154680"/>
            <a:ext cx="1170432" cy="411480"/>
          </a:xfrm>
          <a:prstGeom prst="roundRect">
            <a:avLst>
              <a:gd name="adj" fmla="val 22222"/>
            </a:avLst>
          </a:prstGeom>
          <a:solidFill>
            <a:schemeClr val="bg1"/>
          </a:solidFill>
          <a:ln w="12700">
            <a:solidFill>
              <a:srgbClr val="E2E8F0"/>
            </a:solidFill>
            <a:prstDash val="solid"/>
          </a:ln>
        </p:spPr>
      </p:sp>
      <p:sp>
        <p:nvSpPr>
          <p:cNvPr id="18" name="Text 14"/>
          <p:cNvSpPr txBox="1"/>
          <p:nvPr/>
        </p:nvSpPr>
        <p:spPr>
          <a:xfrm>
            <a:off x="4480560" y="3154680"/>
            <a:ext cx="1170432" cy="411480"/>
          </a:xfrm>
          <a:prstGeom prst="rect">
            <a:avLst/>
          </a:prstGeom>
          <a:noFill/>
          <a:ln/>
        </p:spPr>
        <p:txBody>
          <a:bodyPr wrap="square" lIns="0" tIns="0" rIns="0" bIns="0" rtlCol="0" anchor="ctr"/>
          <a:lstStyle/>
          <a:p>
            <a:pPr algn="ctr" indent="0" marL="0">
              <a:buNone/>
            </a:pPr>
            <a:r>
              <a:rPr lang="en-US" sz="1300" dirty="0">
                <a:solidFill>
                  <a:schemeClr val="accent5"/>
                </a:solidFill>
                <a:latin typeface="Consolas" pitchFamily="34" charset="0"/>
                <a:ea typeface="Consolas" pitchFamily="34" charset="-122"/>
                <a:cs typeface="Consolas" pitchFamily="34" charset="-120"/>
              </a:rPr>
              <a:t>auth</a:t>
            </a:r>
            <a:endParaRPr lang="en-US" sz="1300" dirty="0"/>
          </a:p>
        </p:txBody>
      </p:sp>
      <p:sp>
        <p:nvSpPr>
          <p:cNvPr id="19" name="Shape 15"/>
          <p:cNvSpPr/>
          <p:nvPr/>
        </p:nvSpPr>
        <p:spPr>
          <a:xfrm>
            <a:off x="5742432" y="3154680"/>
            <a:ext cx="1170432" cy="411480"/>
          </a:xfrm>
          <a:prstGeom prst="roundRect">
            <a:avLst>
              <a:gd name="adj" fmla="val 22222"/>
            </a:avLst>
          </a:prstGeom>
          <a:solidFill>
            <a:schemeClr val="bg1"/>
          </a:solidFill>
          <a:ln w="12700">
            <a:solidFill>
              <a:srgbClr val="E2E8F0"/>
            </a:solidFill>
            <a:prstDash val="solid"/>
          </a:ln>
        </p:spPr>
      </p:sp>
      <p:sp>
        <p:nvSpPr>
          <p:cNvPr id="20" name="Text 16"/>
          <p:cNvSpPr txBox="1"/>
          <p:nvPr/>
        </p:nvSpPr>
        <p:spPr>
          <a:xfrm>
            <a:off x="5742432" y="3154680"/>
            <a:ext cx="1170432" cy="411480"/>
          </a:xfrm>
          <a:prstGeom prst="rect">
            <a:avLst/>
          </a:prstGeom>
          <a:noFill/>
          <a:ln/>
        </p:spPr>
        <p:txBody>
          <a:bodyPr wrap="square" lIns="0" tIns="0" rIns="0" bIns="0" rtlCol="0" anchor="ctr"/>
          <a:lstStyle/>
          <a:p>
            <a:pPr algn="ctr" indent="0" marL="0">
              <a:buNone/>
            </a:pPr>
            <a:r>
              <a:rPr lang="en-US" sz="1300" dirty="0">
                <a:solidFill>
                  <a:schemeClr val="accent5"/>
                </a:solidFill>
                <a:latin typeface="Consolas" pitchFamily="34" charset="0"/>
                <a:ea typeface="Consolas" pitchFamily="34" charset="-122"/>
                <a:cs typeface="Consolas" pitchFamily="34" charset="-120"/>
              </a:rPr>
              <a:t>commerce</a:t>
            </a:r>
            <a:endParaRPr lang="en-US" sz="1300" dirty="0"/>
          </a:p>
        </p:txBody>
      </p:sp>
      <p:sp>
        <p:nvSpPr>
          <p:cNvPr id="21" name="Shape 17"/>
          <p:cNvSpPr/>
          <p:nvPr/>
        </p:nvSpPr>
        <p:spPr>
          <a:xfrm>
            <a:off x="7004304" y="3154680"/>
            <a:ext cx="1170432" cy="411480"/>
          </a:xfrm>
          <a:prstGeom prst="roundRect">
            <a:avLst>
              <a:gd name="adj" fmla="val 22222"/>
            </a:avLst>
          </a:prstGeom>
          <a:solidFill>
            <a:schemeClr val="bg1"/>
          </a:solidFill>
          <a:ln w="12700">
            <a:solidFill>
              <a:srgbClr val="E2E8F0"/>
            </a:solidFill>
            <a:prstDash val="solid"/>
          </a:ln>
        </p:spPr>
      </p:sp>
      <p:sp>
        <p:nvSpPr>
          <p:cNvPr id="22" name="Text 18"/>
          <p:cNvSpPr txBox="1"/>
          <p:nvPr/>
        </p:nvSpPr>
        <p:spPr>
          <a:xfrm>
            <a:off x="7004304" y="3154680"/>
            <a:ext cx="1170432" cy="411480"/>
          </a:xfrm>
          <a:prstGeom prst="rect">
            <a:avLst/>
          </a:prstGeom>
          <a:noFill/>
          <a:ln/>
        </p:spPr>
        <p:txBody>
          <a:bodyPr wrap="square" lIns="0" tIns="0" rIns="0" bIns="0" rtlCol="0" anchor="ctr"/>
          <a:lstStyle/>
          <a:p>
            <a:pPr algn="ctr" indent="0" marL="0">
              <a:buNone/>
            </a:pPr>
            <a:r>
              <a:rPr lang="en-US" sz="1300" dirty="0">
                <a:solidFill>
                  <a:schemeClr val="accent5"/>
                </a:solidFill>
                <a:latin typeface="Consolas" pitchFamily="34" charset="0"/>
                <a:ea typeface="Consolas" pitchFamily="34" charset="-122"/>
                <a:cs typeface="Consolas" pitchFamily="34" charset="-120"/>
              </a:rPr>
              <a:t>paiement</a:t>
            </a:r>
            <a:endParaRPr lang="en-US" sz="1300" dirty="0"/>
          </a:p>
        </p:txBody>
      </p:sp>
      <p:sp>
        <p:nvSpPr>
          <p:cNvPr id="23" name="Shape 19"/>
          <p:cNvSpPr/>
          <p:nvPr/>
        </p:nvSpPr>
        <p:spPr>
          <a:xfrm>
            <a:off x="4480560" y="3703320"/>
            <a:ext cx="1170432" cy="411480"/>
          </a:xfrm>
          <a:prstGeom prst="roundRect">
            <a:avLst>
              <a:gd name="adj" fmla="val 22222"/>
            </a:avLst>
          </a:prstGeom>
          <a:solidFill>
            <a:schemeClr val="bg1"/>
          </a:solidFill>
          <a:ln w="12700">
            <a:solidFill>
              <a:srgbClr val="E2E8F0"/>
            </a:solidFill>
            <a:prstDash val="solid"/>
          </a:ln>
        </p:spPr>
      </p:sp>
      <p:sp>
        <p:nvSpPr>
          <p:cNvPr id="24" name="Text 20"/>
          <p:cNvSpPr txBox="1"/>
          <p:nvPr/>
        </p:nvSpPr>
        <p:spPr>
          <a:xfrm>
            <a:off x="4480560" y="3703320"/>
            <a:ext cx="1170432" cy="411480"/>
          </a:xfrm>
          <a:prstGeom prst="rect">
            <a:avLst/>
          </a:prstGeom>
          <a:noFill/>
          <a:ln/>
        </p:spPr>
        <p:txBody>
          <a:bodyPr wrap="square" lIns="0" tIns="0" rIns="0" bIns="0" rtlCol="0" anchor="ctr"/>
          <a:lstStyle/>
          <a:p>
            <a:pPr algn="ctr" indent="0" marL="0">
              <a:buNone/>
            </a:pPr>
            <a:r>
              <a:rPr lang="en-US" sz="1300" dirty="0">
                <a:solidFill>
                  <a:schemeClr val="accent5"/>
                </a:solidFill>
                <a:latin typeface="Consolas" pitchFamily="34" charset="0"/>
                <a:ea typeface="Consolas" pitchFamily="34" charset="-122"/>
                <a:cs typeface="Consolas" pitchFamily="34" charset="-120"/>
              </a:rPr>
              <a:t>collecte</a:t>
            </a:r>
            <a:endParaRPr lang="en-US" sz="1300" dirty="0"/>
          </a:p>
        </p:txBody>
      </p:sp>
      <p:sp>
        <p:nvSpPr>
          <p:cNvPr id="25" name="Shape 21"/>
          <p:cNvSpPr/>
          <p:nvPr/>
        </p:nvSpPr>
        <p:spPr>
          <a:xfrm>
            <a:off x="5742432" y="3703320"/>
            <a:ext cx="1170432" cy="411480"/>
          </a:xfrm>
          <a:prstGeom prst="roundRect">
            <a:avLst>
              <a:gd name="adj" fmla="val 22222"/>
            </a:avLst>
          </a:prstGeom>
          <a:solidFill>
            <a:schemeClr val="bg1"/>
          </a:solidFill>
          <a:ln w="12700">
            <a:solidFill>
              <a:srgbClr val="E2E8F0"/>
            </a:solidFill>
            <a:prstDash val="solid"/>
          </a:ln>
        </p:spPr>
      </p:sp>
      <p:sp>
        <p:nvSpPr>
          <p:cNvPr id="26" name="Text 22"/>
          <p:cNvSpPr txBox="1"/>
          <p:nvPr/>
        </p:nvSpPr>
        <p:spPr>
          <a:xfrm>
            <a:off x="5742432" y="3703320"/>
            <a:ext cx="1170432" cy="411480"/>
          </a:xfrm>
          <a:prstGeom prst="rect">
            <a:avLst/>
          </a:prstGeom>
          <a:noFill/>
          <a:ln/>
        </p:spPr>
        <p:txBody>
          <a:bodyPr wrap="square" lIns="0" tIns="0" rIns="0" bIns="0" rtlCol="0" anchor="ctr"/>
          <a:lstStyle/>
          <a:p>
            <a:pPr algn="ctr" indent="0" marL="0">
              <a:buNone/>
            </a:pPr>
            <a:r>
              <a:rPr lang="en-US" sz="1300" dirty="0">
                <a:solidFill>
                  <a:schemeClr val="accent5"/>
                </a:solidFill>
                <a:latin typeface="Consolas" pitchFamily="34" charset="0"/>
                <a:ea typeface="Consolas" pitchFamily="34" charset="-122"/>
                <a:cs typeface="Consolas" pitchFamily="34" charset="-120"/>
              </a:rPr>
              <a:t>stock</a:t>
            </a:r>
            <a:endParaRPr lang="en-US" sz="1300" dirty="0"/>
          </a:p>
        </p:txBody>
      </p:sp>
      <p:sp>
        <p:nvSpPr>
          <p:cNvPr id="27" name="Shape 23"/>
          <p:cNvSpPr/>
          <p:nvPr/>
        </p:nvSpPr>
        <p:spPr>
          <a:xfrm>
            <a:off x="7004304" y="3703320"/>
            <a:ext cx="1170432" cy="411480"/>
          </a:xfrm>
          <a:prstGeom prst="roundRect">
            <a:avLst>
              <a:gd name="adj" fmla="val 22222"/>
            </a:avLst>
          </a:prstGeom>
          <a:solidFill>
            <a:schemeClr val="bg1"/>
          </a:solidFill>
          <a:ln w="12700">
            <a:solidFill>
              <a:srgbClr val="E2E8F0"/>
            </a:solidFill>
            <a:prstDash val="solid"/>
          </a:ln>
        </p:spPr>
      </p:sp>
      <p:sp>
        <p:nvSpPr>
          <p:cNvPr id="28" name="Text 24"/>
          <p:cNvSpPr txBox="1"/>
          <p:nvPr/>
        </p:nvSpPr>
        <p:spPr>
          <a:xfrm>
            <a:off x="7004304" y="3703320"/>
            <a:ext cx="1170432" cy="411480"/>
          </a:xfrm>
          <a:prstGeom prst="rect">
            <a:avLst/>
          </a:prstGeom>
          <a:noFill/>
          <a:ln/>
        </p:spPr>
        <p:txBody>
          <a:bodyPr wrap="square" lIns="0" tIns="0" rIns="0" bIns="0" rtlCol="0" anchor="ctr"/>
          <a:lstStyle/>
          <a:p>
            <a:pPr algn="ctr" indent="0" marL="0">
              <a:buNone/>
            </a:pPr>
            <a:r>
              <a:rPr lang="en-US" sz="1300" dirty="0">
                <a:solidFill>
                  <a:schemeClr val="accent5"/>
                </a:solidFill>
                <a:latin typeface="Consolas" pitchFamily="34" charset="0"/>
                <a:ea typeface="Consolas" pitchFamily="34" charset="-122"/>
                <a:cs typeface="Consolas" pitchFamily="34" charset="-120"/>
              </a:rPr>
              <a:t>communaute</a:t>
            </a:r>
            <a:endParaRPr lang="en-US" sz="1300" dirty="0"/>
          </a:p>
        </p:txBody>
      </p:sp>
      <p:sp>
        <p:nvSpPr>
          <p:cNvPr id="29" name="Shape 25"/>
          <p:cNvSpPr/>
          <p:nvPr/>
        </p:nvSpPr>
        <p:spPr>
          <a:xfrm>
            <a:off x="4480560" y="4251960"/>
            <a:ext cx="1170432" cy="411480"/>
          </a:xfrm>
          <a:prstGeom prst="roundRect">
            <a:avLst>
              <a:gd name="adj" fmla="val 22222"/>
            </a:avLst>
          </a:prstGeom>
          <a:solidFill>
            <a:schemeClr val="bg1"/>
          </a:solidFill>
          <a:ln w="12700">
            <a:solidFill>
              <a:srgbClr val="E2E8F0"/>
            </a:solidFill>
            <a:prstDash val="solid"/>
          </a:ln>
        </p:spPr>
      </p:sp>
      <p:sp>
        <p:nvSpPr>
          <p:cNvPr id="30" name="Text 26"/>
          <p:cNvSpPr txBox="1"/>
          <p:nvPr/>
        </p:nvSpPr>
        <p:spPr>
          <a:xfrm>
            <a:off x="4480560" y="4251960"/>
            <a:ext cx="1170432" cy="411480"/>
          </a:xfrm>
          <a:prstGeom prst="rect">
            <a:avLst/>
          </a:prstGeom>
          <a:noFill/>
          <a:ln/>
        </p:spPr>
        <p:txBody>
          <a:bodyPr wrap="square" lIns="0" tIns="0" rIns="0" bIns="0" rtlCol="0" anchor="ctr"/>
          <a:lstStyle/>
          <a:p>
            <a:pPr algn="ctr" indent="0" marL="0">
              <a:buNone/>
            </a:pPr>
            <a:r>
              <a:rPr lang="en-US" sz="1300" dirty="0">
                <a:solidFill>
                  <a:schemeClr val="accent5"/>
                </a:solidFill>
                <a:latin typeface="Consolas" pitchFamily="34" charset="0"/>
                <a:ea typeface="Consolas" pitchFamily="34" charset="-122"/>
                <a:cs typeface="Consolas" pitchFamily="34" charset="-120"/>
              </a:rPr>
              <a:t>signalement</a:t>
            </a:r>
            <a:endParaRPr lang="en-US" sz="1300" dirty="0"/>
          </a:p>
        </p:txBody>
      </p:sp>
      <p:sp>
        <p:nvSpPr>
          <p:cNvPr id="31" name="Shape 27"/>
          <p:cNvSpPr/>
          <p:nvPr/>
        </p:nvSpPr>
        <p:spPr>
          <a:xfrm>
            <a:off x="8458200" y="3474720"/>
            <a:ext cx="731520" cy="0"/>
          </a:xfrm>
          <a:prstGeom prst="line">
            <a:avLst/>
          </a:prstGeom>
          <a:noFill/>
          <a:ln w="25400">
            <a:solidFill>
              <a:srgbClr val="15803D"/>
            </a:solidFill>
            <a:prstDash val="solid"/>
            <a:tailEnd type="triangle"/>
          </a:ln>
        </p:spPr>
      </p:sp>
      <p:sp>
        <p:nvSpPr>
          <p:cNvPr id="32" name="db"/>
          <p:cNvSpPr/>
          <p:nvPr/>
        </p:nvSpPr>
        <p:spPr>
          <a:xfrm>
            <a:off x="9235440" y="2011680"/>
            <a:ext cx="2377440" cy="2926080"/>
          </a:xfrm>
          <a:prstGeom prst="roundRect">
            <a:avLst>
              <a:gd name="adj" fmla="val 4615"/>
            </a:avLst>
          </a:prstGeom>
          <a:solidFill>
            <a:schemeClr val="bg2"/>
          </a:solidFill>
          <a:ln/>
        </p:spPr>
      </p:sp>
      <p:sp>
        <p:nvSpPr>
          <p:cNvPr id="33" name="badge-LuDatabase"/>
          <p:cNvSpPr/>
          <p:nvPr/>
        </p:nvSpPr>
        <p:spPr>
          <a:xfrm>
            <a:off x="9509760" y="2240280"/>
            <a:ext cx="685800" cy="685800"/>
          </a:xfrm>
          <a:prstGeom prst="ellipse">
            <a:avLst/>
          </a:prstGeom>
          <a:solidFill>
            <a:schemeClr val="accent1"/>
          </a:solidFill>
          <a:ln/>
        </p:spPr>
      </p:sp>
      <p:pic>
        <p:nvPicPr>
          <p:cNvPr id="34" name="Image 2" descr="preencoded.png">    </p:cNvPr>
          <p:cNvPicPr>
            <a:picLocks noChangeAspect="1"/>
          </p:cNvPicPr>
          <p:nvPr/>
        </p:nvPicPr>
        <p:blipFill>
          <a:blip r:embed="rId3"/>
          <a:stretch>
            <a:fillRect/>
          </a:stretch>
        </p:blipFill>
        <p:spPr>
          <a:xfrm>
            <a:off x="9681210" y="2411730"/>
            <a:ext cx="342900" cy="342900"/>
          </a:xfrm>
          <a:prstGeom prst="rect">
            <a:avLst/>
          </a:prstGeom>
        </p:spPr>
      </p:pic>
      <p:sp>
        <p:nvSpPr>
          <p:cNvPr id="35" name="Text 30"/>
          <p:cNvSpPr txBox="1"/>
          <p:nvPr/>
        </p:nvSpPr>
        <p:spPr>
          <a:xfrm>
            <a:off x="10332720" y="2148840"/>
            <a:ext cx="1188720" cy="365760"/>
          </a:xfrm>
          <a:prstGeom prst="rect">
            <a:avLst/>
          </a:prstGeom>
          <a:noFill/>
          <a:ln/>
        </p:spPr>
        <p:txBody>
          <a:bodyPr wrap="square" lIns="0" tIns="0" rIns="0" bIns="0" rtlCol="0" anchor="ctr"/>
          <a:lstStyle/>
          <a:p>
            <a:pPr indent="0" marL="0">
              <a:buNone/>
            </a:pPr>
            <a:r>
              <a:rPr lang="en-US" sz="1800" b="1" dirty="0">
                <a:solidFill>
                  <a:schemeClr val="tx1"/>
                </a:solidFill>
              </a:rPr>
              <a:t>Base</a:t>
            </a:r>
            <a:endParaRPr lang="en-US" sz="1800" dirty="0"/>
          </a:p>
        </p:txBody>
      </p:sp>
      <p:sp>
        <p:nvSpPr>
          <p:cNvPr id="36" name="Text 31"/>
          <p:cNvSpPr txBox="1"/>
          <p:nvPr/>
        </p:nvSpPr>
        <p:spPr>
          <a:xfrm>
            <a:off x="10332720" y="2514600"/>
            <a:ext cx="1234440" cy="320040"/>
          </a:xfrm>
          <a:prstGeom prst="rect">
            <a:avLst/>
          </a:prstGeom>
          <a:noFill/>
          <a:ln/>
        </p:spPr>
        <p:txBody>
          <a:bodyPr wrap="square" lIns="0" tIns="0" rIns="0" bIns="0" rtlCol="0" anchor="ctr"/>
          <a:lstStyle/>
          <a:p>
            <a:pPr indent="0" marL="0">
              <a:buNone/>
            </a:pPr>
            <a:r>
              <a:rPr lang="en-US" sz="1400" dirty="0">
                <a:solidFill>
                  <a:schemeClr val="accent6"/>
                </a:solidFill>
              </a:rPr>
              <a:t>PostgreSQL</a:t>
            </a:r>
            <a:endParaRPr lang="en-US" sz="1400" dirty="0"/>
          </a:p>
        </p:txBody>
      </p:sp>
      <p:sp>
        <p:nvSpPr>
          <p:cNvPr id="37" name="Text 32"/>
          <p:cNvSpPr txBox="1"/>
          <p:nvPr/>
        </p:nvSpPr>
        <p:spPr>
          <a:xfrm>
            <a:off x="9509760" y="3108960"/>
            <a:ext cx="1920240" cy="1645920"/>
          </a:xfrm>
          <a:prstGeom prst="rect">
            <a:avLst/>
          </a:prstGeom>
          <a:noFill/>
          <a:ln/>
        </p:spPr>
        <p:txBody>
          <a:bodyPr wrap="square" lIns="0" tIns="0" rIns="0" bIns="0" rtlCol="0" anchor="t"/>
          <a:lstStyle/>
          <a:p>
            <a:pPr indent="0" marL="0">
              <a:buNone/>
            </a:pPr>
            <a:r>
              <a:rPr lang="en-US" sz="1400" dirty="0">
                <a:solidFill>
                  <a:schemeClr val="tx1"/>
                </a:solidFill>
              </a:rPr>
              <a:t>Schéma piloté par Flyway : 26 migrations versionnées, jamais modifiées après merge</a:t>
            </a:r>
            <a:endParaRPr lang="en-US" sz="1400" dirty="0"/>
          </a:p>
        </p:txBody>
      </p:sp>
      <p:sp>
        <p:nvSpPr>
          <p:cNvPr id="38" name="badge-LuCreditCard"/>
          <p:cNvSpPr/>
          <p:nvPr/>
        </p:nvSpPr>
        <p:spPr>
          <a:xfrm>
            <a:off x="4206240" y="5257800"/>
            <a:ext cx="548640" cy="548640"/>
          </a:xfrm>
          <a:prstGeom prst="ellipse">
            <a:avLst/>
          </a:prstGeom>
          <a:solidFill>
            <a:schemeClr val="accent6"/>
          </a:solidFill>
          <a:ln/>
        </p:spPr>
      </p:sp>
      <p:pic>
        <p:nvPicPr>
          <p:cNvPr id="39" name="Image 3" descr="preencoded.png">    </p:cNvPr>
          <p:cNvPicPr>
            <a:picLocks noChangeAspect="1"/>
          </p:cNvPicPr>
          <p:nvPr/>
        </p:nvPicPr>
        <p:blipFill>
          <a:blip r:embed="rId4"/>
          <a:stretch>
            <a:fillRect/>
          </a:stretch>
        </p:blipFill>
        <p:spPr>
          <a:xfrm>
            <a:off x="4343400" y="5394960"/>
            <a:ext cx="274320" cy="274320"/>
          </a:xfrm>
          <a:prstGeom prst="rect">
            <a:avLst/>
          </a:prstGeom>
        </p:spPr>
      </p:pic>
      <p:sp>
        <p:nvSpPr>
          <p:cNvPr id="40" name="Text 34"/>
          <p:cNvSpPr txBox="1"/>
          <p:nvPr/>
        </p:nvSpPr>
        <p:spPr>
          <a:xfrm>
            <a:off x="4892040" y="5212080"/>
            <a:ext cx="1920240" cy="320040"/>
          </a:xfrm>
          <a:prstGeom prst="rect">
            <a:avLst/>
          </a:prstGeom>
          <a:noFill/>
          <a:ln/>
        </p:spPr>
        <p:txBody>
          <a:bodyPr wrap="square" lIns="0" tIns="0" rIns="0" bIns="0" rtlCol="0" anchor="ctr"/>
          <a:lstStyle/>
          <a:p>
            <a:pPr indent="0" marL="0">
              <a:buNone/>
            </a:pPr>
            <a:r>
              <a:rPr lang="en-US" sz="1500" b="1" dirty="0">
                <a:solidFill>
                  <a:schemeClr val="tx1"/>
                </a:solidFill>
              </a:rPr>
              <a:t>PayDunya</a:t>
            </a:r>
            <a:endParaRPr lang="en-US" sz="1500" dirty="0"/>
          </a:p>
        </p:txBody>
      </p:sp>
      <p:sp>
        <p:nvSpPr>
          <p:cNvPr id="41" name="Text 35"/>
          <p:cNvSpPr txBox="1"/>
          <p:nvPr/>
        </p:nvSpPr>
        <p:spPr>
          <a:xfrm>
            <a:off x="4892040" y="5532120"/>
            <a:ext cx="1920240" cy="685800"/>
          </a:xfrm>
          <a:prstGeom prst="rect">
            <a:avLst/>
          </a:prstGeom>
          <a:noFill/>
          <a:ln/>
        </p:spPr>
        <p:txBody>
          <a:bodyPr wrap="square" lIns="0" tIns="0" rIns="0" bIns="0" rtlCol="0" anchor="t"/>
          <a:lstStyle/>
          <a:p>
            <a:pPr indent="0" marL="0">
              <a:buNone/>
            </a:pPr>
            <a:r>
              <a:rPr lang="en-US" sz="1100" dirty="0">
                <a:solidFill>
                  <a:schemeClr val="accent6"/>
                </a:solidFill>
              </a:rPr>
              <a:t>Paiement mobile money ; webhook revalidé côté serveur</a:t>
            </a:r>
            <a:endParaRPr lang="en-US" sz="1100" dirty="0"/>
          </a:p>
        </p:txBody>
      </p:sp>
      <p:sp>
        <p:nvSpPr>
          <p:cNvPr id="42" name="badge-LuMail"/>
          <p:cNvSpPr/>
          <p:nvPr/>
        </p:nvSpPr>
        <p:spPr>
          <a:xfrm>
            <a:off x="6903720" y="5257800"/>
            <a:ext cx="548640" cy="548640"/>
          </a:xfrm>
          <a:prstGeom prst="ellipse">
            <a:avLst/>
          </a:prstGeom>
          <a:solidFill>
            <a:schemeClr val="accent6"/>
          </a:solidFill>
          <a:ln/>
        </p:spPr>
      </p:sp>
      <p:pic>
        <p:nvPicPr>
          <p:cNvPr id="43" name="Image 4" descr="preencoded.png">    </p:cNvPr>
          <p:cNvPicPr>
            <a:picLocks noChangeAspect="1"/>
          </p:cNvPicPr>
          <p:nvPr/>
        </p:nvPicPr>
        <p:blipFill>
          <a:blip r:embed="rId5"/>
          <a:stretch>
            <a:fillRect/>
          </a:stretch>
        </p:blipFill>
        <p:spPr>
          <a:xfrm>
            <a:off x="7040880" y="5394960"/>
            <a:ext cx="274320" cy="274320"/>
          </a:xfrm>
          <a:prstGeom prst="rect">
            <a:avLst/>
          </a:prstGeom>
        </p:spPr>
      </p:pic>
      <p:sp>
        <p:nvSpPr>
          <p:cNvPr id="44" name="Text 37"/>
          <p:cNvSpPr txBox="1"/>
          <p:nvPr/>
        </p:nvSpPr>
        <p:spPr>
          <a:xfrm>
            <a:off x="7589520" y="5212080"/>
            <a:ext cx="1920240" cy="320040"/>
          </a:xfrm>
          <a:prstGeom prst="rect">
            <a:avLst/>
          </a:prstGeom>
          <a:noFill/>
          <a:ln/>
        </p:spPr>
        <p:txBody>
          <a:bodyPr wrap="square" lIns="0" tIns="0" rIns="0" bIns="0" rtlCol="0" anchor="ctr"/>
          <a:lstStyle/>
          <a:p>
            <a:pPr indent="0" marL="0">
              <a:buNone/>
            </a:pPr>
            <a:r>
              <a:rPr lang="en-US" sz="1500" b="1" dirty="0">
                <a:solidFill>
                  <a:schemeClr val="tx1"/>
                </a:solidFill>
              </a:rPr>
              <a:t>Brevo</a:t>
            </a:r>
            <a:endParaRPr lang="en-US" sz="1500" dirty="0"/>
          </a:p>
        </p:txBody>
      </p:sp>
      <p:sp>
        <p:nvSpPr>
          <p:cNvPr id="45" name="Text 38"/>
          <p:cNvSpPr txBox="1"/>
          <p:nvPr/>
        </p:nvSpPr>
        <p:spPr>
          <a:xfrm>
            <a:off x="7589520" y="5532120"/>
            <a:ext cx="1920240" cy="685800"/>
          </a:xfrm>
          <a:prstGeom prst="rect">
            <a:avLst/>
          </a:prstGeom>
          <a:noFill/>
          <a:ln/>
        </p:spPr>
        <p:txBody>
          <a:bodyPr wrap="square" lIns="0" tIns="0" rIns="0" bIns="0" rtlCol="0" anchor="t"/>
          <a:lstStyle/>
          <a:p>
            <a:pPr indent="0" marL="0">
              <a:buNone/>
            </a:pPr>
            <a:r>
              <a:rPr lang="en-US" sz="1100" dirty="0">
                <a:solidFill>
                  <a:schemeClr val="accent6"/>
                </a:solidFill>
              </a:rPr>
              <a:t>E-mails : mot de passe oublié, alertes métier</a:t>
            </a:r>
            <a:endParaRPr lang="en-US" sz="1100" dirty="0"/>
          </a:p>
        </p:txBody>
      </p:sp>
      <p:sp>
        <p:nvSpPr>
          <p:cNvPr id="46" name="Text 39"/>
          <p:cNvSpPr txBox="1"/>
          <p:nvPr/>
        </p:nvSpPr>
        <p:spPr>
          <a:xfrm>
            <a:off x="548640" y="5257800"/>
            <a:ext cx="2834640" cy="548640"/>
          </a:xfrm>
          <a:prstGeom prst="rect">
            <a:avLst/>
          </a:prstGeom>
          <a:noFill/>
          <a:ln/>
        </p:spPr>
        <p:txBody>
          <a:bodyPr wrap="square" lIns="0" tIns="0" rIns="0" bIns="0" rtlCol="0" anchor="ctr"/>
          <a:lstStyle/>
          <a:p>
            <a:pPr indent="0" marL="0">
              <a:buNone/>
            </a:pPr>
            <a:r>
              <a:rPr lang="en-US" sz="1600" b="1" dirty="0">
                <a:solidFill>
                  <a:schemeClr val="accent6"/>
                </a:solidFill>
              </a:rPr>
              <a:t>Services externes</a:t>
            </a:r>
            <a:endParaRPr lang="en-US" sz="1600" dirty="0"/>
          </a:p>
        </p:txBody>
      </p:sp>
      <p:sp>
        <p:nvSpPr>
          <p:cNvPr id="25" name="Slide Number Placeholder 0"/>
          <p:cNvSpPr>
            <a:spLocks noGrp="1"/>
          </p:cNvSpPr>
          <p:nvPr>
            <p:ph type="sldNum" sz="quarter" idx="4294967295"/>
          </p:nvPr>
        </p:nvSpPr>
        <p:spPr>
          <a:xfrm>
            <a:off x="11155680" y="6327648"/>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85800"/>
          </a:xfrm>
          <a:prstGeom prst="rect">
            <a:avLst/>
          </a:prstGeom>
          <a:noFill/>
          <a:ln/>
        </p:spPr>
        <p:txBody>
          <a:bodyPr wrap="square" lIns="0" tIns="0" rIns="0" bIns="0" rtlCol="0" anchor="ctr"/>
          <a:lstStyle/>
          <a:p>
            <a:pPr algn="l" indent="0" marL="0">
              <a:buNone/>
            </a:pPr>
            <a:r>
              <a:rPr lang="en-US" sz="3600" b="1" dirty="0">
                <a:solidFill>
                  <a:schemeClr val="tx1"/>
                </a:solidFill>
              </a:rPr>
              <a:t>Un design system validé, appliqué partout</a:t>
            </a:r>
            <a:endParaRPr lang="en-US" sz="3600" dirty="0"/>
          </a:p>
        </p:txBody>
      </p:sp>
      <p:sp>
        <p:nvSpPr>
          <p:cNvPr id="3" name="Text 0"/>
          <p:cNvSpPr/>
          <p:nvPr>
            <p:ph idx="101" type="body" hasCustomPrompt="1"/>
          </p:nvPr>
        </p:nvSpPr>
        <p:spPr>
          <a:xfrm>
            <a:off x="548640" y="1051560"/>
            <a:ext cx="11064240" cy="457200"/>
          </a:xfrm>
          <a:prstGeom prst="rect">
            <a:avLst/>
          </a:prstGeom>
          <a:noFill/>
          <a:ln/>
        </p:spPr>
        <p:txBody>
          <a:bodyPr wrap="square" lIns="0" tIns="0" rIns="0" bIns="0" rtlCol="0" anchor="t"/>
          <a:lstStyle/>
          <a:p>
            <a:pPr indent="0" marL="0">
              <a:buNone/>
            </a:pPr>
            <a:r>
              <a:rPr lang="en-US" sz="1800" dirty="0">
                <a:solidFill>
                  <a:schemeClr val="accent6"/>
                </a:solidFill>
              </a:rPr>
              <a:t>Direction « Atelier » : l'interface s'efface derrière les produits</a:t>
            </a:r>
            <a:endParaRPr lang="en-US" sz="1800" dirty="0"/>
          </a:p>
        </p:txBody>
      </p:sp>
      <p:sp>
        <p:nvSpPr>
          <p:cNvPr id="4" name="swatch-15803D"/>
          <p:cNvSpPr/>
          <p:nvPr/>
        </p:nvSpPr>
        <p:spPr>
          <a:xfrm>
            <a:off x="548640" y="1965960"/>
            <a:ext cx="1783080" cy="685800"/>
          </a:xfrm>
          <a:prstGeom prst="roundRect">
            <a:avLst>
              <a:gd name="adj" fmla="val 13333"/>
            </a:avLst>
          </a:prstGeom>
          <a:solidFill>
            <a:srgbClr val="15803D"/>
          </a:solidFill>
          <a:ln/>
        </p:spPr>
      </p:sp>
      <p:sp>
        <p:nvSpPr>
          <p:cNvPr id="5" name="Text 3"/>
          <p:cNvSpPr txBox="1"/>
          <p:nvPr/>
        </p:nvSpPr>
        <p:spPr>
          <a:xfrm>
            <a:off x="685800" y="1965960"/>
            <a:ext cx="1554480" cy="685800"/>
          </a:xfrm>
          <a:prstGeom prst="rect">
            <a:avLst/>
          </a:prstGeom>
          <a:noFill/>
          <a:ln/>
        </p:spPr>
        <p:txBody>
          <a:bodyPr wrap="square" lIns="0" tIns="0" rIns="0" bIns="0"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#15803D</a:t>
            </a:r>
            <a:endParaRPr lang="en-US" sz="1400" dirty="0"/>
          </a:p>
        </p:txBody>
      </p:sp>
      <p:sp>
        <p:nvSpPr>
          <p:cNvPr id="6" name="Text 4"/>
          <p:cNvSpPr txBox="1"/>
          <p:nvPr/>
        </p:nvSpPr>
        <p:spPr>
          <a:xfrm>
            <a:off x="548640" y="2697480"/>
            <a:ext cx="1783080" cy="274320"/>
          </a:xfrm>
          <a:prstGeom prst="rect">
            <a:avLst/>
          </a:prstGeom>
          <a:noFill/>
          <a:ln/>
        </p:spPr>
        <p:txBody>
          <a:bodyPr wrap="square" lIns="0" tIns="0" rIns="0" bIns="0" rtlCol="0" anchor="ctr"/>
          <a:lstStyle/>
          <a:p>
            <a:pPr indent="0" marL="0">
              <a:buNone/>
            </a:pPr>
            <a:r>
              <a:rPr lang="en-US" sz="1400" b="1" dirty="0">
                <a:solidFill>
                  <a:schemeClr val="tx1"/>
                </a:solidFill>
              </a:rPr>
              <a:t>Vert</a:t>
            </a:r>
            <a:endParaRPr lang="en-US" sz="1400" dirty="0"/>
          </a:p>
        </p:txBody>
      </p:sp>
      <p:sp>
        <p:nvSpPr>
          <p:cNvPr id="7" name="Text 5"/>
          <p:cNvSpPr txBox="1"/>
          <p:nvPr/>
        </p:nvSpPr>
        <p:spPr>
          <a:xfrm>
            <a:off x="548640" y="2953512"/>
            <a:ext cx="1783080" cy="274320"/>
          </a:xfrm>
          <a:prstGeom prst="rect">
            <a:avLst/>
          </a:prstGeom>
          <a:noFill/>
          <a:ln/>
        </p:spPr>
        <p:txBody>
          <a:bodyPr wrap="square" lIns="0" tIns="0" rIns="0" bIns="0" rtlCol="0" anchor="ctr"/>
          <a:lstStyle/>
          <a:p>
            <a:pPr indent="0" marL="0">
              <a:buNone/>
            </a:pPr>
            <a:r>
              <a:rPr lang="en-US" sz="1100" dirty="0">
                <a:solidFill>
                  <a:schemeClr val="accent6"/>
                </a:solidFill>
              </a:rPr>
              <a:t>boutons, liens, prix</a:t>
            </a:r>
            <a:endParaRPr lang="en-US" sz="1100" dirty="0"/>
          </a:p>
        </p:txBody>
      </p:sp>
      <p:sp>
        <p:nvSpPr>
          <p:cNvPr id="8" name="swatch-166534"/>
          <p:cNvSpPr/>
          <p:nvPr/>
        </p:nvSpPr>
        <p:spPr>
          <a:xfrm>
            <a:off x="2468880" y="1965960"/>
            <a:ext cx="1783080" cy="685800"/>
          </a:xfrm>
          <a:prstGeom prst="roundRect">
            <a:avLst>
              <a:gd name="adj" fmla="val 13333"/>
            </a:avLst>
          </a:prstGeom>
          <a:solidFill>
            <a:srgbClr val="166534"/>
          </a:solidFill>
          <a:ln/>
        </p:spPr>
      </p:sp>
      <p:sp>
        <p:nvSpPr>
          <p:cNvPr id="9" name="Text 7"/>
          <p:cNvSpPr txBox="1"/>
          <p:nvPr/>
        </p:nvSpPr>
        <p:spPr>
          <a:xfrm>
            <a:off x="2606040" y="1965960"/>
            <a:ext cx="1554480" cy="685800"/>
          </a:xfrm>
          <a:prstGeom prst="rect">
            <a:avLst/>
          </a:prstGeom>
          <a:noFill/>
          <a:ln/>
        </p:spPr>
        <p:txBody>
          <a:bodyPr wrap="square" lIns="0" tIns="0" rIns="0" bIns="0"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#166534</a:t>
            </a:r>
            <a:endParaRPr lang="en-US" sz="1400" dirty="0"/>
          </a:p>
        </p:txBody>
      </p:sp>
      <p:sp>
        <p:nvSpPr>
          <p:cNvPr id="10" name="Text 8"/>
          <p:cNvSpPr txBox="1"/>
          <p:nvPr/>
        </p:nvSpPr>
        <p:spPr>
          <a:xfrm>
            <a:off x="2468880" y="2697480"/>
            <a:ext cx="1783080" cy="274320"/>
          </a:xfrm>
          <a:prstGeom prst="rect">
            <a:avLst/>
          </a:prstGeom>
          <a:noFill/>
          <a:ln/>
        </p:spPr>
        <p:txBody>
          <a:bodyPr wrap="square" lIns="0" tIns="0" rIns="0" bIns="0" rtlCol="0" anchor="ctr"/>
          <a:lstStyle/>
          <a:p>
            <a:pPr indent="0" marL="0">
              <a:buNone/>
            </a:pPr>
            <a:r>
              <a:rPr lang="en-US" sz="1400" b="1" dirty="0">
                <a:solidFill>
                  <a:schemeClr val="tx1"/>
                </a:solidFill>
              </a:rPr>
              <a:t>Vert foncé</a:t>
            </a:r>
            <a:endParaRPr lang="en-US" sz="1400" dirty="0"/>
          </a:p>
        </p:txBody>
      </p:sp>
      <p:sp>
        <p:nvSpPr>
          <p:cNvPr id="11" name="Text 9"/>
          <p:cNvSpPr txBox="1"/>
          <p:nvPr/>
        </p:nvSpPr>
        <p:spPr>
          <a:xfrm>
            <a:off x="2468880" y="2953512"/>
            <a:ext cx="1783080" cy="274320"/>
          </a:xfrm>
          <a:prstGeom prst="rect">
            <a:avLst/>
          </a:prstGeom>
          <a:noFill/>
          <a:ln/>
        </p:spPr>
        <p:txBody>
          <a:bodyPr wrap="square" lIns="0" tIns="0" rIns="0" bIns="0" rtlCol="0" anchor="ctr"/>
          <a:lstStyle/>
          <a:p>
            <a:pPr indent="0" marL="0">
              <a:buNone/>
            </a:pPr>
            <a:r>
              <a:rPr lang="en-US" sz="1100" dirty="0">
                <a:solidFill>
                  <a:schemeClr val="accent6"/>
                </a:solidFill>
              </a:rPr>
              <a:t>survol, back-office</a:t>
            </a:r>
            <a:endParaRPr lang="en-US" sz="1100" dirty="0"/>
          </a:p>
        </p:txBody>
      </p:sp>
      <p:sp>
        <p:nvSpPr>
          <p:cNvPr id="12" name="swatch-22C55E"/>
          <p:cNvSpPr/>
          <p:nvPr/>
        </p:nvSpPr>
        <p:spPr>
          <a:xfrm>
            <a:off x="4389120" y="1965960"/>
            <a:ext cx="1783080" cy="685800"/>
          </a:xfrm>
          <a:prstGeom prst="roundRect">
            <a:avLst>
              <a:gd name="adj" fmla="val 13333"/>
            </a:avLst>
          </a:prstGeom>
          <a:solidFill>
            <a:srgbClr val="22C55E"/>
          </a:solidFill>
          <a:ln/>
        </p:spPr>
      </p:sp>
      <p:sp>
        <p:nvSpPr>
          <p:cNvPr id="13" name="Text 11"/>
          <p:cNvSpPr txBox="1"/>
          <p:nvPr/>
        </p:nvSpPr>
        <p:spPr>
          <a:xfrm>
            <a:off x="4526280" y="1965960"/>
            <a:ext cx="1554480" cy="685800"/>
          </a:xfrm>
          <a:prstGeom prst="rect">
            <a:avLst/>
          </a:prstGeom>
          <a:noFill/>
          <a:ln/>
        </p:spPr>
        <p:txBody>
          <a:bodyPr wrap="square" lIns="0" tIns="0" rIns="0" bIns="0" rtlCol="0" anchor="ctr"/>
          <a:lstStyle/>
          <a:p>
            <a:pPr indent="0" marL="0">
              <a:buNone/>
            </a:pPr>
            <a:r>
              <a:rPr lang="en-US" sz="1400" b="1" dirty="0">
                <a:solidFill>
                  <a:srgbClr val="0F172A"/>
                </a:solidFill>
                <a:latin typeface="Consolas" pitchFamily="34" charset="0"/>
                <a:ea typeface="Consolas" pitchFamily="34" charset="-122"/>
                <a:cs typeface="Consolas" pitchFamily="34" charset="-120"/>
              </a:rPr>
              <a:t>#22C55E</a:t>
            </a:r>
            <a:endParaRPr lang="en-US" sz="1400" dirty="0"/>
          </a:p>
        </p:txBody>
      </p:sp>
      <p:sp>
        <p:nvSpPr>
          <p:cNvPr id="14" name="Text 12"/>
          <p:cNvSpPr txBox="1"/>
          <p:nvPr/>
        </p:nvSpPr>
        <p:spPr>
          <a:xfrm>
            <a:off x="4389120" y="2697480"/>
            <a:ext cx="1783080" cy="274320"/>
          </a:xfrm>
          <a:prstGeom prst="rect">
            <a:avLst/>
          </a:prstGeom>
          <a:noFill/>
          <a:ln/>
        </p:spPr>
        <p:txBody>
          <a:bodyPr wrap="square" lIns="0" tIns="0" rIns="0" bIns="0" rtlCol="0" anchor="ctr"/>
          <a:lstStyle/>
          <a:p>
            <a:pPr indent="0" marL="0">
              <a:buNone/>
            </a:pPr>
            <a:r>
              <a:rPr lang="en-US" sz="1400" b="1" dirty="0">
                <a:solidFill>
                  <a:schemeClr val="tx1"/>
                </a:solidFill>
              </a:rPr>
              <a:t>Vert vif</a:t>
            </a:r>
            <a:endParaRPr lang="en-US" sz="1400" dirty="0"/>
          </a:p>
        </p:txBody>
      </p:sp>
      <p:sp>
        <p:nvSpPr>
          <p:cNvPr id="15" name="Text 13"/>
          <p:cNvSpPr txBox="1"/>
          <p:nvPr/>
        </p:nvSpPr>
        <p:spPr>
          <a:xfrm>
            <a:off x="4389120" y="2953512"/>
            <a:ext cx="1783080" cy="274320"/>
          </a:xfrm>
          <a:prstGeom prst="rect">
            <a:avLst/>
          </a:prstGeom>
          <a:noFill/>
          <a:ln/>
        </p:spPr>
        <p:txBody>
          <a:bodyPr wrap="square" lIns="0" tIns="0" rIns="0" bIns="0" rtlCol="0" anchor="ctr"/>
          <a:lstStyle/>
          <a:p>
            <a:pPr indent="0" marL="0">
              <a:buNone/>
            </a:pPr>
            <a:r>
              <a:rPr lang="en-US" sz="1100" dirty="0">
                <a:solidFill>
                  <a:schemeClr val="accent6"/>
                </a:solidFill>
              </a:rPr>
              <a:t>icônes, jamais du texte</a:t>
            </a:r>
            <a:endParaRPr lang="en-US" sz="1100" dirty="0"/>
          </a:p>
        </p:txBody>
      </p:sp>
      <p:sp>
        <p:nvSpPr>
          <p:cNvPr id="16" name="swatch-B45309"/>
          <p:cNvSpPr/>
          <p:nvPr/>
        </p:nvSpPr>
        <p:spPr>
          <a:xfrm>
            <a:off x="548640" y="3383280"/>
            <a:ext cx="1783080" cy="685800"/>
          </a:xfrm>
          <a:prstGeom prst="roundRect">
            <a:avLst>
              <a:gd name="adj" fmla="val 13333"/>
            </a:avLst>
          </a:prstGeom>
          <a:solidFill>
            <a:srgbClr val="B45309"/>
          </a:solidFill>
          <a:ln/>
        </p:spPr>
      </p:sp>
      <p:sp>
        <p:nvSpPr>
          <p:cNvPr id="17" name="Text 15"/>
          <p:cNvSpPr txBox="1"/>
          <p:nvPr/>
        </p:nvSpPr>
        <p:spPr>
          <a:xfrm>
            <a:off x="685800" y="3383280"/>
            <a:ext cx="1554480" cy="685800"/>
          </a:xfrm>
          <a:prstGeom prst="rect">
            <a:avLst/>
          </a:prstGeom>
          <a:noFill/>
          <a:ln/>
        </p:spPr>
        <p:txBody>
          <a:bodyPr wrap="square" lIns="0" tIns="0" rIns="0" bIns="0"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#B45309</a:t>
            </a:r>
            <a:endParaRPr lang="en-US" sz="1400" dirty="0"/>
          </a:p>
        </p:txBody>
      </p:sp>
      <p:sp>
        <p:nvSpPr>
          <p:cNvPr id="18" name="Text 16"/>
          <p:cNvSpPr txBox="1"/>
          <p:nvPr/>
        </p:nvSpPr>
        <p:spPr>
          <a:xfrm>
            <a:off x="548640" y="4114800"/>
            <a:ext cx="1783080" cy="274320"/>
          </a:xfrm>
          <a:prstGeom prst="rect">
            <a:avLst/>
          </a:prstGeom>
          <a:noFill/>
          <a:ln/>
        </p:spPr>
        <p:txBody>
          <a:bodyPr wrap="square" lIns="0" tIns="0" rIns="0" bIns="0" rtlCol="0" anchor="ctr"/>
          <a:lstStyle/>
          <a:p>
            <a:pPr indent="0" marL="0">
              <a:buNone/>
            </a:pPr>
            <a:r>
              <a:rPr lang="en-US" sz="1400" b="1" dirty="0">
                <a:solidFill>
                  <a:schemeClr val="tx1"/>
                </a:solidFill>
              </a:rPr>
              <a:t>Orange</a:t>
            </a:r>
            <a:endParaRPr lang="en-US" sz="1400" dirty="0"/>
          </a:p>
        </p:txBody>
      </p:sp>
      <p:sp>
        <p:nvSpPr>
          <p:cNvPr id="19" name="Text 17"/>
          <p:cNvSpPr txBox="1"/>
          <p:nvPr/>
        </p:nvSpPr>
        <p:spPr>
          <a:xfrm>
            <a:off x="548640" y="4370832"/>
            <a:ext cx="1783080" cy="274320"/>
          </a:xfrm>
          <a:prstGeom prst="rect">
            <a:avLst/>
          </a:prstGeom>
          <a:noFill/>
          <a:ln/>
        </p:spPr>
        <p:txBody>
          <a:bodyPr wrap="square" lIns="0" tIns="0" rIns="0" bIns="0" rtlCol="0" anchor="ctr"/>
          <a:lstStyle/>
          <a:p>
            <a:pPr indent="0" marL="0">
              <a:buNone/>
            </a:pPr>
            <a:r>
              <a:rPr lang="en-US" sz="1100" dirty="0">
                <a:solidFill>
                  <a:schemeClr val="accent6"/>
                </a:solidFill>
              </a:rPr>
              <a:t>achat : 1 seul par écran</a:t>
            </a:r>
            <a:endParaRPr lang="en-US" sz="1100" dirty="0"/>
          </a:p>
        </p:txBody>
      </p:sp>
      <p:sp>
        <p:nvSpPr>
          <p:cNvPr id="20" name="swatch-E4002B"/>
          <p:cNvSpPr/>
          <p:nvPr/>
        </p:nvSpPr>
        <p:spPr>
          <a:xfrm>
            <a:off x="2468880" y="3383280"/>
            <a:ext cx="1783080" cy="685800"/>
          </a:xfrm>
          <a:prstGeom prst="roundRect">
            <a:avLst>
              <a:gd name="adj" fmla="val 13333"/>
            </a:avLst>
          </a:prstGeom>
          <a:solidFill>
            <a:srgbClr val="E4002B"/>
          </a:solidFill>
          <a:ln/>
        </p:spPr>
      </p:sp>
      <p:sp>
        <p:nvSpPr>
          <p:cNvPr id="21" name="Text 19"/>
          <p:cNvSpPr txBox="1"/>
          <p:nvPr/>
        </p:nvSpPr>
        <p:spPr>
          <a:xfrm>
            <a:off x="2606040" y="3383280"/>
            <a:ext cx="1554480" cy="685800"/>
          </a:xfrm>
          <a:prstGeom prst="rect">
            <a:avLst/>
          </a:prstGeom>
          <a:noFill/>
          <a:ln/>
        </p:spPr>
        <p:txBody>
          <a:bodyPr wrap="square" lIns="0" tIns="0" rIns="0" bIns="0"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#E4002B</a:t>
            </a:r>
            <a:endParaRPr lang="en-US" sz="1400" dirty="0"/>
          </a:p>
        </p:txBody>
      </p:sp>
      <p:sp>
        <p:nvSpPr>
          <p:cNvPr id="22" name="Text 20"/>
          <p:cNvSpPr txBox="1"/>
          <p:nvPr/>
        </p:nvSpPr>
        <p:spPr>
          <a:xfrm>
            <a:off x="2468880" y="4114800"/>
            <a:ext cx="1783080" cy="274320"/>
          </a:xfrm>
          <a:prstGeom prst="rect">
            <a:avLst/>
          </a:prstGeom>
          <a:noFill/>
          <a:ln/>
        </p:spPr>
        <p:txBody>
          <a:bodyPr wrap="square" lIns="0" tIns="0" rIns="0" bIns="0" rtlCol="0" anchor="ctr"/>
          <a:lstStyle/>
          <a:p>
            <a:pPr indent="0" marL="0">
              <a:buNone/>
            </a:pPr>
            <a:r>
              <a:rPr lang="en-US" sz="1400" b="1" dirty="0">
                <a:solidFill>
                  <a:schemeClr val="tx1"/>
                </a:solidFill>
              </a:rPr>
              <a:t>Rouge logo</a:t>
            </a:r>
            <a:endParaRPr lang="en-US" sz="1400" dirty="0"/>
          </a:p>
        </p:txBody>
      </p:sp>
      <p:sp>
        <p:nvSpPr>
          <p:cNvPr id="23" name="Text 21"/>
          <p:cNvSpPr txBox="1"/>
          <p:nvPr/>
        </p:nvSpPr>
        <p:spPr>
          <a:xfrm>
            <a:off x="2468880" y="4370832"/>
            <a:ext cx="1783080" cy="274320"/>
          </a:xfrm>
          <a:prstGeom prst="rect">
            <a:avLst/>
          </a:prstGeom>
          <a:noFill/>
          <a:ln/>
        </p:spPr>
        <p:txBody>
          <a:bodyPr wrap="square" lIns="0" tIns="0" rIns="0" bIns="0" rtlCol="0" anchor="ctr"/>
          <a:lstStyle/>
          <a:p>
            <a:pPr indent="0" marL="0">
              <a:buNone/>
            </a:pPr>
            <a:r>
              <a:rPr lang="en-US" sz="1100" dirty="0">
                <a:solidFill>
                  <a:schemeClr val="accent6"/>
                </a:solidFill>
              </a:rPr>
              <a:t>touches de marque</a:t>
            </a:r>
            <a:endParaRPr lang="en-US" sz="1100" dirty="0"/>
          </a:p>
        </p:txBody>
      </p:sp>
      <p:sp>
        <p:nvSpPr>
          <p:cNvPr id="24" name="swatch-14231B"/>
          <p:cNvSpPr/>
          <p:nvPr/>
        </p:nvSpPr>
        <p:spPr>
          <a:xfrm>
            <a:off x="4389120" y="3383280"/>
            <a:ext cx="1783080" cy="685800"/>
          </a:xfrm>
          <a:prstGeom prst="roundRect">
            <a:avLst>
              <a:gd name="adj" fmla="val 13333"/>
            </a:avLst>
          </a:prstGeom>
          <a:solidFill>
            <a:srgbClr val="14231B"/>
          </a:solidFill>
          <a:ln/>
        </p:spPr>
      </p:sp>
      <p:sp>
        <p:nvSpPr>
          <p:cNvPr id="25" name="Text 23"/>
          <p:cNvSpPr txBox="1"/>
          <p:nvPr/>
        </p:nvSpPr>
        <p:spPr>
          <a:xfrm>
            <a:off x="4526280" y="3383280"/>
            <a:ext cx="1554480" cy="685800"/>
          </a:xfrm>
          <a:prstGeom prst="rect">
            <a:avLst/>
          </a:prstGeom>
          <a:noFill/>
          <a:ln/>
        </p:spPr>
        <p:txBody>
          <a:bodyPr wrap="square" lIns="0" tIns="0" rIns="0" bIns="0"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#14231B</a:t>
            </a:r>
            <a:endParaRPr lang="en-US" sz="1400" dirty="0"/>
          </a:p>
        </p:txBody>
      </p:sp>
      <p:sp>
        <p:nvSpPr>
          <p:cNvPr id="26" name="Text 24"/>
          <p:cNvSpPr txBox="1"/>
          <p:nvPr/>
        </p:nvSpPr>
        <p:spPr>
          <a:xfrm>
            <a:off x="4389120" y="4114800"/>
            <a:ext cx="1783080" cy="274320"/>
          </a:xfrm>
          <a:prstGeom prst="rect">
            <a:avLst/>
          </a:prstGeom>
          <a:noFill/>
          <a:ln/>
        </p:spPr>
        <p:txBody>
          <a:bodyPr wrap="square" lIns="0" tIns="0" rIns="0" bIns="0" rtlCol="0" anchor="ctr"/>
          <a:lstStyle/>
          <a:p>
            <a:pPr indent="0" marL="0">
              <a:buNone/>
            </a:pPr>
            <a:r>
              <a:rPr lang="en-US" sz="1400" b="1" dirty="0">
                <a:solidFill>
                  <a:schemeClr val="tx1"/>
                </a:solidFill>
              </a:rPr>
              <a:t>Fond sombre</a:t>
            </a:r>
            <a:endParaRPr lang="en-US" sz="1400" dirty="0"/>
          </a:p>
        </p:txBody>
      </p:sp>
      <p:sp>
        <p:nvSpPr>
          <p:cNvPr id="27" name="Text 25"/>
          <p:cNvSpPr txBox="1"/>
          <p:nvPr/>
        </p:nvSpPr>
        <p:spPr>
          <a:xfrm>
            <a:off x="4389120" y="4370832"/>
            <a:ext cx="1783080" cy="274320"/>
          </a:xfrm>
          <a:prstGeom prst="rect">
            <a:avLst/>
          </a:prstGeom>
          <a:noFill/>
          <a:ln/>
        </p:spPr>
        <p:txBody>
          <a:bodyPr wrap="square" lIns="0" tIns="0" rIns="0" bIns="0" rtlCol="0" anchor="ctr"/>
          <a:lstStyle/>
          <a:p>
            <a:pPr indent="0" marL="0">
              <a:buNone/>
            </a:pPr>
            <a:r>
              <a:rPr lang="en-US" sz="1100" dirty="0">
                <a:solidFill>
                  <a:schemeClr val="accent6"/>
                </a:solidFill>
              </a:rPr>
              <a:t>footer, bandeaux</a:t>
            </a:r>
            <a:endParaRPr lang="en-US" sz="1100" dirty="0"/>
          </a:p>
        </p:txBody>
      </p:sp>
      <p:sp>
        <p:nvSpPr>
          <p:cNvPr id="28" name="typo"/>
          <p:cNvSpPr/>
          <p:nvPr/>
        </p:nvSpPr>
        <p:spPr>
          <a:xfrm>
            <a:off x="548640" y="4892040"/>
            <a:ext cx="5623560" cy="1234440"/>
          </a:xfrm>
          <a:prstGeom prst="roundRect">
            <a:avLst>
              <a:gd name="adj" fmla="val 8889"/>
            </a:avLst>
          </a:prstGeom>
          <a:solidFill>
            <a:schemeClr val="bg2"/>
          </a:solidFill>
          <a:ln/>
        </p:spPr>
      </p:sp>
      <p:sp>
        <p:nvSpPr>
          <p:cNvPr id="29" name="Text 27"/>
          <p:cNvSpPr txBox="1"/>
          <p:nvPr/>
        </p:nvSpPr>
        <p:spPr>
          <a:xfrm>
            <a:off x="777240" y="4892040"/>
            <a:ext cx="1097280" cy="1234440"/>
          </a:xfrm>
          <a:prstGeom prst="rect">
            <a:avLst/>
          </a:prstGeom>
          <a:noFill/>
          <a:ln/>
        </p:spPr>
        <p:txBody>
          <a:bodyPr wrap="square" lIns="0" tIns="0" rIns="0" bIns="0" rtlCol="0" anchor="ctr"/>
          <a:lstStyle/>
          <a:p>
            <a:pPr indent="0" marL="0">
              <a:buNone/>
            </a:pPr>
            <a:r>
              <a:rPr lang="en-US" sz="4800" b="1" dirty="0">
                <a:solidFill>
                  <a:schemeClr val="accent1"/>
                </a:solidFill>
              </a:rPr>
              <a:t>Aa</a:t>
            </a:r>
            <a:endParaRPr lang="en-US" sz="4800" dirty="0"/>
          </a:p>
        </p:txBody>
      </p:sp>
      <p:sp>
        <p:nvSpPr>
          <p:cNvPr id="30" name="Text 28"/>
          <p:cNvSpPr txBox="1"/>
          <p:nvPr/>
        </p:nvSpPr>
        <p:spPr>
          <a:xfrm>
            <a:off x="1920240" y="4983480"/>
            <a:ext cx="4114800" cy="1051560"/>
          </a:xfrm>
          <a:prstGeom prst="rect">
            <a:avLst/>
          </a:prstGeom>
          <a:noFill/>
          <a:ln/>
        </p:spPr>
        <p:txBody>
          <a:bodyPr wrap="square" lIns="0" tIns="0" rIns="0" bIns="0" rtlCol="0" anchor="ctr"/>
          <a:lstStyle/>
          <a:p>
            <a:pPr indent="0" marL="0">
              <a:buNone/>
            </a:pPr>
            <a:r>
              <a:rPr lang="en-US" sz="1800" b="1" dirty="0">
                <a:solidFill>
                  <a:schemeClr val="tx1"/>
                </a:solidFill>
              </a:rPr>
              <a:t>Source Sans 3</a:t>
            </a:r>
            <a:endParaRPr lang="en-US" sz="1800" dirty="0"/>
          </a:p>
          <a:p>
            <a:pPr indent="0" marL="0">
              <a:buNone/>
            </a:pPr>
            <a:r>
              <a:rPr lang="en-US" sz="1300" dirty="0">
                <a:solidFill>
                  <a:schemeClr val="accent6"/>
                </a:solidFill>
              </a:rPr>
              <a:t>Une seule famille, graisses 400 et 600, chiffres tabulaires pour prix et quantités</a:t>
            </a:r>
            <a:endParaRPr lang="en-US" sz="1800" dirty="0"/>
          </a:p>
        </p:txBody>
      </p:sp>
      <p:sp>
        <p:nvSpPr>
          <p:cNvPr id="31" name="regles"/>
          <p:cNvSpPr/>
          <p:nvPr/>
        </p:nvSpPr>
        <p:spPr>
          <a:xfrm>
            <a:off x="6400800" y="1965960"/>
            <a:ext cx="2926080" cy="4160520"/>
          </a:xfrm>
          <a:prstGeom prst="roundRect">
            <a:avLst>
              <a:gd name="adj" fmla="val 3750"/>
            </a:avLst>
          </a:prstGeom>
          <a:solidFill>
            <a:schemeClr val="bg2"/>
          </a:solidFill>
          <a:ln/>
        </p:spPr>
      </p:sp>
      <p:sp>
        <p:nvSpPr>
          <p:cNvPr id="32" name="Text 30"/>
          <p:cNvSpPr txBox="1"/>
          <p:nvPr/>
        </p:nvSpPr>
        <p:spPr>
          <a:xfrm>
            <a:off x="6629400" y="2148840"/>
            <a:ext cx="2560320" cy="365760"/>
          </a:xfrm>
          <a:prstGeom prst="rect">
            <a:avLst/>
          </a:prstGeom>
          <a:noFill/>
          <a:ln/>
        </p:spPr>
        <p:txBody>
          <a:bodyPr wrap="square" lIns="0" tIns="0" rIns="0" bIns="0" rtlCol="0" anchor="ctr"/>
          <a:lstStyle/>
          <a:p>
            <a:pPr indent="0" marL="0">
              <a:buNone/>
            </a:pPr>
            <a:r>
              <a:rPr lang="en-US" sz="1800" b="1" dirty="0">
                <a:solidFill>
                  <a:schemeClr val="tx1"/>
                </a:solidFill>
              </a:rPr>
              <a:t>Règles d'usage</a:t>
            </a:r>
            <a:endParaRPr lang="en-US" sz="1800" dirty="0"/>
          </a:p>
        </p:txBody>
      </p:sp>
      <p:sp>
        <p:nvSpPr>
          <p:cNvPr id="33" name="Text 31"/>
          <p:cNvSpPr txBox="1"/>
          <p:nvPr/>
        </p:nvSpPr>
        <p:spPr>
          <a:xfrm>
            <a:off x="6629400" y="2651760"/>
            <a:ext cx="2514600" cy="32918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Contraste WCAG AA : 4,5:1 minimum pour tout texte</a:t>
            </a:r>
            <a:endParaRPr lang="en-US" sz="1400" dirty="0"/>
          </a:p>
          <a:p>
            <a:pPr marL="177800" indent="-177800">
              <a:spcAft>
                <a:spcPts val="800"/>
              </a:spcAft>
              <a:buSzPct val="100000"/>
              <a:buChar char="•"/>
            </a:pPr>
            <a:r>
              <a:rPr lang="en-US" sz="1400" dirty="0">
                <a:solidFill>
                  <a:schemeClr val="tx1"/>
                </a:solidFill>
              </a:rPr>
              <a:t>Cibles tactiles de 48 px, mobile d'abord (360 px)</a:t>
            </a:r>
            <a:endParaRPr lang="en-US" sz="1400" dirty="0"/>
          </a:p>
          <a:p>
            <a:pPr marL="177800" indent="-177800">
              <a:spcAft>
                <a:spcPts val="800"/>
              </a:spcAft>
              <a:buSzPct val="100000"/>
              <a:buChar char="•"/>
            </a:pPr>
            <a:r>
              <a:rPr lang="en-US" sz="1400" dirty="0">
                <a:solidFill>
                  <a:schemeClr val="tx1"/>
                </a:solidFill>
              </a:rPr>
              <a:t>Icônes Lucide au trait, toujours avec un libellé</a:t>
            </a:r>
            <a:endParaRPr lang="en-US" sz="1400" dirty="0"/>
          </a:p>
          <a:p>
            <a:pPr marL="177800" indent="-177800">
              <a:spcAft>
                <a:spcPts val="800"/>
              </a:spcAft>
              <a:buSzPct val="100000"/>
              <a:buChar char="•"/>
            </a:pPr>
            <a:r>
              <a:rPr lang="en-US" sz="1400" dirty="0">
                <a:solidFill>
                  <a:schemeClr val="tx1"/>
                </a:solidFill>
              </a:rPr>
              <a:t>Pas de dégradés ; cartes à bordure 1 px, sans ombre</a:t>
            </a:r>
            <a:endParaRPr lang="en-US" sz="1400" dirty="0"/>
          </a:p>
          <a:p>
            <a:pPr marL="177800" indent="-177800">
              <a:spcAft>
                <a:spcPts val="800"/>
              </a:spcAft>
              <a:buSzPct val="100000"/>
              <a:buChar char="•"/>
            </a:pPr>
            <a:r>
              <a:rPr lang="en-US" sz="1400" dirty="0">
                <a:solidFill>
                  <a:schemeClr val="tx1"/>
                </a:solidFill>
              </a:rPr>
              <a:t>Erreur = icône + texte, jamais la couleur seule</a:t>
            </a:r>
            <a:endParaRPr lang="en-US" sz="1400" dirty="0"/>
          </a:p>
        </p:txBody>
      </p:sp>
      <p:sp>
        <p:nvSpPr>
          <p:cNvPr id="34" name="telephone"/>
          <p:cNvSpPr/>
          <p:nvPr/>
        </p:nvSpPr>
        <p:spPr>
          <a:xfrm>
            <a:off x="9646920" y="1600200"/>
            <a:ext cx="1965960" cy="4526280"/>
          </a:xfrm>
          <a:prstGeom prst="roundRect">
            <a:avLst>
              <a:gd name="adj" fmla="val 9302"/>
            </a:avLst>
          </a:prstGeom>
          <a:solidFill>
            <a:schemeClr val="tx1"/>
          </a:solidFill>
          <a:ln/>
        </p:spPr>
      </p:sp>
      <p:pic>
        <p:nvPicPr>
          <p:cNvPr id="35" name="Image 0" descr="Catalogue AS'SOUÉ sur mobile, menu ouvert">    </p:cNvPr>
          <p:cNvPicPr>
            <a:picLocks noChangeAspect="1"/>
          </p:cNvPicPr>
          <p:nvPr/>
        </p:nvPicPr>
        <p:blipFill>
          <a:blip r:embed="rId1"/>
          <a:stretch>
            <a:fillRect/>
          </a:stretch>
        </p:blipFill>
        <p:spPr>
          <a:xfrm>
            <a:off x="9738360" y="1691640"/>
            <a:ext cx="1783080" cy="3959352"/>
          </a:xfrm>
          <a:prstGeom prst="rect">
            <a:avLst/>
          </a:prstGeom>
        </p:spPr>
      </p:pic>
      <p:sp>
        <p:nvSpPr>
          <p:cNvPr id="36" name="Text 33"/>
          <p:cNvSpPr txBox="1"/>
          <p:nvPr/>
        </p:nvSpPr>
        <p:spPr>
          <a:xfrm>
            <a:off x="9646920" y="5715000"/>
            <a:ext cx="1965960" cy="320040"/>
          </a:xfrm>
          <a:prstGeom prst="rect">
            <a:avLst/>
          </a:prstGeom>
          <a:noFill/>
          <a:ln/>
        </p:spPr>
        <p:txBody>
          <a:bodyPr wrap="square" lIns="0" tIns="0" rIns="0" bIns="0" rtlCol="0" anchor="ctr"/>
          <a:lstStyle/>
          <a:p>
            <a:pPr algn="ctr" indent="0" marL="0">
              <a:buNone/>
            </a:pPr>
            <a:r>
              <a:rPr lang="en-US" sz="1100" dirty="0">
                <a:solidFill>
                  <a:srgbClr val="CBD5E1"/>
                </a:solidFill>
              </a:rPr>
              <a:t>Boutique, 360 px</a:t>
            </a:r>
            <a:endParaRPr lang="en-US" sz="1100" dirty="0"/>
          </a:p>
        </p:txBody>
      </p:sp>
      <p:sp>
        <p:nvSpPr>
          <p:cNvPr id="25" name="Slide Number Placeholder 0"/>
          <p:cNvSpPr>
            <a:spLocks noGrp="1"/>
          </p:cNvSpPr>
          <p:nvPr>
            <p:ph type="sldNum" sz="quarter" idx="4294967295"/>
          </p:nvPr>
        </p:nvSpPr>
        <p:spPr>
          <a:xfrm>
            <a:off x="11155680" y="6327648"/>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85800"/>
          </a:xfrm>
          <a:prstGeom prst="rect">
            <a:avLst/>
          </a:prstGeom>
          <a:noFill/>
          <a:ln/>
        </p:spPr>
        <p:txBody>
          <a:bodyPr wrap="square" lIns="0" tIns="0" rIns="0" bIns="0" rtlCol="0" anchor="ctr"/>
          <a:lstStyle/>
          <a:p>
            <a:pPr algn="l" indent="0" marL="0">
              <a:buNone/>
            </a:pPr>
            <a:r>
              <a:rPr lang="en-US" sz="3600" b="1" dirty="0">
                <a:solidFill>
                  <a:schemeClr val="tx1"/>
                </a:solidFill>
              </a:rPr>
              <a:t>Qualité et sécurité vérifiées à chaque merge</a:t>
            </a:r>
            <a:endParaRPr lang="en-US" sz="3600" dirty="0"/>
          </a:p>
        </p:txBody>
      </p:sp>
      <p:sp>
        <p:nvSpPr>
          <p:cNvPr id="3" name="Text 0"/>
          <p:cNvSpPr/>
          <p:nvPr>
            <p:ph idx="101" type="body" hasCustomPrompt="1"/>
          </p:nvPr>
        </p:nvSpPr>
        <p:spPr>
          <a:xfrm>
            <a:off x="548640" y="1051560"/>
            <a:ext cx="11064240" cy="457200"/>
          </a:xfrm>
          <a:prstGeom prst="rect">
            <a:avLst/>
          </a:prstGeom>
          <a:noFill/>
          <a:ln/>
        </p:spPr>
        <p:txBody>
          <a:bodyPr wrap="square" lIns="0" tIns="0" rIns="0" bIns="0" rtlCol="0" anchor="t"/>
          <a:lstStyle/>
          <a:p>
            <a:pPr indent="0" marL="0">
              <a:buNone/>
            </a:pPr>
            <a:r>
              <a:rPr lang="en-US" sz="1800" dirty="0">
                <a:solidFill>
                  <a:schemeClr val="accent6"/>
                </a:solidFill>
              </a:rPr>
              <a:t>Aucune fusion sans build, tests et E2E au vert dans la CI GitHub Actions</a:t>
            </a:r>
            <a:endParaRPr lang="en-US" sz="1800" dirty="0"/>
          </a:p>
        </p:txBody>
      </p:sp>
      <p:sp>
        <p:nvSpPr>
          <p:cNvPr id="4" name="stat-0"/>
          <p:cNvSpPr/>
          <p:nvPr/>
        </p:nvSpPr>
        <p:spPr>
          <a:xfrm>
            <a:off x="548640" y="1920240"/>
            <a:ext cx="2606040" cy="1828800"/>
          </a:xfrm>
          <a:prstGeom prst="roundRect">
            <a:avLst>
              <a:gd name="adj" fmla="val 6000"/>
            </a:avLst>
          </a:prstGeom>
          <a:solidFill>
            <a:schemeClr val="bg2"/>
          </a:solidFill>
          <a:ln/>
        </p:spPr>
      </p:sp>
      <p:sp>
        <p:nvSpPr>
          <p:cNvPr id="5" name="Text 3"/>
          <p:cNvSpPr txBox="1"/>
          <p:nvPr/>
        </p:nvSpPr>
        <p:spPr>
          <a:xfrm>
            <a:off x="822960" y="2011680"/>
            <a:ext cx="2103120" cy="914400"/>
          </a:xfrm>
          <a:prstGeom prst="rect">
            <a:avLst/>
          </a:prstGeom>
          <a:noFill/>
          <a:ln/>
        </p:spPr>
        <p:txBody>
          <a:bodyPr wrap="square" lIns="0" tIns="0" rIns="0" bIns="0" rtlCol="0" anchor="ctr"/>
          <a:lstStyle/>
          <a:p>
            <a:pPr indent="0" marL="0">
              <a:buNone/>
            </a:pPr>
            <a:r>
              <a:rPr lang="en-US" sz="5400" b="1" dirty="0">
                <a:solidFill>
                  <a:srgbClr val="16A34A"/>
                </a:solidFill>
              </a:rPr>
              <a:t>165</a:t>
            </a:r>
            <a:endParaRPr lang="en-US" sz="5400" dirty="0"/>
          </a:p>
        </p:txBody>
      </p:sp>
      <p:sp>
        <p:nvSpPr>
          <p:cNvPr id="6" name="Text 4"/>
          <p:cNvSpPr txBox="1"/>
          <p:nvPr/>
        </p:nvSpPr>
        <p:spPr>
          <a:xfrm>
            <a:off x="822960" y="2880360"/>
            <a:ext cx="2194560" cy="365760"/>
          </a:xfrm>
          <a:prstGeom prst="rect">
            <a:avLst/>
          </a:prstGeom>
          <a:noFill/>
          <a:ln/>
        </p:spPr>
        <p:txBody>
          <a:bodyPr wrap="square" lIns="0" tIns="0" rIns="0" bIns="0" rtlCol="0" anchor="ctr"/>
          <a:lstStyle/>
          <a:p>
            <a:pPr indent="0" marL="0">
              <a:buNone/>
            </a:pPr>
            <a:r>
              <a:rPr lang="en-US" sz="1800" b="1" dirty="0">
                <a:solidFill>
                  <a:schemeClr val="tx1"/>
                </a:solidFill>
              </a:rPr>
              <a:t>tests backend</a:t>
            </a:r>
            <a:endParaRPr lang="en-US" sz="1800" dirty="0"/>
          </a:p>
        </p:txBody>
      </p:sp>
      <p:sp>
        <p:nvSpPr>
          <p:cNvPr id="7" name="Text 5"/>
          <p:cNvSpPr txBox="1"/>
          <p:nvPr/>
        </p:nvSpPr>
        <p:spPr>
          <a:xfrm>
            <a:off x="822960" y="3246120"/>
            <a:ext cx="2194560" cy="365760"/>
          </a:xfrm>
          <a:prstGeom prst="rect">
            <a:avLst/>
          </a:prstGeom>
          <a:noFill/>
          <a:ln/>
        </p:spPr>
        <p:txBody>
          <a:bodyPr wrap="square" lIns="0" tIns="0" rIns="0" bIns="0" rtlCol="0" anchor="ctr"/>
          <a:lstStyle/>
          <a:p>
            <a:pPr indent="0" marL="0">
              <a:buNone/>
            </a:pPr>
            <a:r>
              <a:rPr lang="en-US" sz="1300" dirty="0">
                <a:solidFill>
                  <a:schemeClr val="accent6"/>
                </a:solidFill>
              </a:rPr>
              <a:t>JUnit sur PostgreSQL réel</a:t>
            </a:r>
            <a:endParaRPr lang="en-US" sz="1300" dirty="0"/>
          </a:p>
        </p:txBody>
      </p:sp>
      <p:sp>
        <p:nvSpPr>
          <p:cNvPr id="8" name="stat-1"/>
          <p:cNvSpPr/>
          <p:nvPr/>
        </p:nvSpPr>
        <p:spPr>
          <a:xfrm>
            <a:off x="3360420" y="1920240"/>
            <a:ext cx="2606040" cy="1828800"/>
          </a:xfrm>
          <a:prstGeom prst="roundRect">
            <a:avLst>
              <a:gd name="adj" fmla="val 6000"/>
            </a:avLst>
          </a:prstGeom>
          <a:solidFill>
            <a:schemeClr val="bg2"/>
          </a:solidFill>
          <a:ln/>
        </p:spPr>
      </p:sp>
      <p:sp>
        <p:nvSpPr>
          <p:cNvPr id="9" name="Text 7"/>
          <p:cNvSpPr txBox="1"/>
          <p:nvPr/>
        </p:nvSpPr>
        <p:spPr>
          <a:xfrm>
            <a:off x="3634740" y="2011680"/>
            <a:ext cx="2103120" cy="914400"/>
          </a:xfrm>
          <a:prstGeom prst="rect">
            <a:avLst/>
          </a:prstGeom>
          <a:noFill/>
          <a:ln/>
        </p:spPr>
        <p:txBody>
          <a:bodyPr wrap="square" lIns="0" tIns="0" rIns="0" bIns="0" rtlCol="0" anchor="ctr"/>
          <a:lstStyle/>
          <a:p>
            <a:pPr indent="0" marL="0">
              <a:buNone/>
            </a:pPr>
            <a:r>
              <a:rPr lang="en-US" sz="5400" b="1" dirty="0">
                <a:solidFill>
                  <a:srgbClr val="16A34A"/>
                </a:solidFill>
              </a:rPr>
              <a:t>128</a:t>
            </a:r>
            <a:endParaRPr lang="en-US" sz="5400" dirty="0"/>
          </a:p>
        </p:txBody>
      </p:sp>
      <p:sp>
        <p:nvSpPr>
          <p:cNvPr id="10" name="Text 8"/>
          <p:cNvSpPr txBox="1"/>
          <p:nvPr/>
        </p:nvSpPr>
        <p:spPr>
          <a:xfrm>
            <a:off x="3634740" y="2880360"/>
            <a:ext cx="2194560" cy="365760"/>
          </a:xfrm>
          <a:prstGeom prst="rect">
            <a:avLst/>
          </a:prstGeom>
          <a:noFill/>
          <a:ln/>
        </p:spPr>
        <p:txBody>
          <a:bodyPr wrap="square" lIns="0" tIns="0" rIns="0" bIns="0" rtlCol="0" anchor="ctr"/>
          <a:lstStyle/>
          <a:p>
            <a:pPr indent="0" marL="0">
              <a:buNone/>
            </a:pPr>
            <a:r>
              <a:rPr lang="en-US" sz="1800" b="1" dirty="0">
                <a:solidFill>
                  <a:schemeClr val="tx1"/>
                </a:solidFill>
              </a:rPr>
              <a:t>tests unitaires</a:t>
            </a:r>
            <a:endParaRPr lang="en-US" sz="1800" dirty="0"/>
          </a:p>
        </p:txBody>
      </p:sp>
      <p:sp>
        <p:nvSpPr>
          <p:cNvPr id="11" name="Text 9"/>
          <p:cNvSpPr txBox="1"/>
          <p:nvPr/>
        </p:nvSpPr>
        <p:spPr>
          <a:xfrm>
            <a:off x="3634740" y="3246120"/>
            <a:ext cx="2194560" cy="365760"/>
          </a:xfrm>
          <a:prstGeom prst="rect">
            <a:avLst/>
          </a:prstGeom>
          <a:noFill/>
          <a:ln/>
        </p:spPr>
        <p:txBody>
          <a:bodyPr wrap="square" lIns="0" tIns="0" rIns="0" bIns="0" rtlCol="0" anchor="ctr"/>
          <a:lstStyle/>
          <a:p>
            <a:pPr indent="0" marL="0">
              <a:buNone/>
            </a:pPr>
            <a:r>
              <a:rPr lang="en-US" sz="1300" dirty="0">
                <a:solidFill>
                  <a:schemeClr val="accent6"/>
                </a:solidFill>
              </a:rPr>
              <a:t>frontend Angular</a:t>
            </a:r>
            <a:endParaRPr lang="en-US" sz="1300" dirty="0"/>
          </a:p>
        </p:txBody>
      </p:sp>
      <p:sp>
        <p:nvSpPr>
          <p:cNvPr id="12" name="stat-2"/>
          <p:cNvSpPr/>
          <p:nvPr/>
        </p:nvSpPr>
        <p:spPr>
          <a:xfrm>
            <a:off x="6172200" y="1920240"/>
            <a:ext cx="2606040" cy="1828800"/>
          </a:xfrm>
          <a:prstGeom prst="roundRect">
            <a:avLst>
              <a:gd name="adj" fmla="val 6000"/>
            </a:avLst>
          </a:prstGeom>
          <a:solidFill>
            <a:schemeClr val="bg2"/>
          </a:solidFill>
          <a:ln/>
        </p:spPr>
      </p:sp>
      <p:sp>
        <p:nvSpPr>
          <p:cNvPr id="13" name="Text 11"/>
          <p:cNvSpPr txBox="1"/>
          <p:nvPr/>
        </p:nvSpPr>
        <p:spPr>
          <a:xfrm>
            <a:off x="6446520" y="2011680"/>
            <a:ext cx="2103120" cy="914400"/>
          </a:xfrm>
          <a:prstGeom prst="rect">
            <a:avLst/>
          </a:prstGeom>
          <a:noFill/>
          <a:ln/>
        </p:spPr>
        <p:txBody>
          <a:bodyPr wrap="square" lIns="0" tIns="0" rIns="0" bIns="0" rtlCol="0" anchor="ctr"/>
          <a:lstStyle/>
          <a:p>
            <a:pPr indent="0" marL="0">
              <a:buNone/>
            </a:pPr>
            <a:r>
              <a:rPr lang="en-US" sz="5400" b="1" dirty="0">
                <a:solidFill>
                  <a:srgbClr val="16A34A"/>
                </a:solidFill>
              </a:rPr>
              <a:t>14</a:t>
            </a:r>
            <a:endParaRPr lang="en-US" sz="5400" dirty="0"/>
          </a:p>
        </p:txBody>
      </p:sp>
      <p:sp>
        <p:nvSpPr>
          <p:cNvPr id="14" name="Text 12"/>
          <p:cNvSpPr txBox="1"/>
          <p:nvPr/>
        </p:nvSpPr>
        <p:spPr>
          <a:xfrm>
            <a:off x="6446520" y="2880360"/>
            <a:ext cx="2194560" cy="365760"/>
          </a:xfrm>
          <a:prstGeom prst="rect">
            <a:avLst/>
          </a:prstGeom>
          <a:noFill/>
          <a:ln/>
        </p:spPr>
        <p:txBody>
          <a:bodyPr wrap="square" lIns="0" tIns="0" rIns="0" bIns="0" rtlCol="0" anchor="ctr"/>
          <a:lstStyle/>
          <a:p>
            <a:pPr indent="0" marL="0">
              <a:buNone/>
            </a:pPr>
            <a:r>
              <a:rPr lang="en-US" sz="1800" b="1" dirty="0">
                <a:solidFill>
                  <a:schemeClr val="tx1"/>
                </a:solidFill>
              </a:rPr>
              <a:t>scénarios E2E</a:t>
            </a:r>
            <a:endParaRPr lang="en-US" sz="1800" dirty="0"/>
          </a:p>
        </p:txBody>
      </p:sp>
      <p:sp>
        <p:nvSpPr>
          <p:cNvPr id="15" name="Text 13"/>
          <p:cNvSpPr txBox="1"/>
          <p:nvPr/>
        </p:nvSpPr>
        <p:spPr>
          <a:xfrm>
            <a:off x="6446520" y="3246120"/>
            <a:ext cx="2194560" cy="365760"/>
          </a:xfrm>
          <a:prstGeom prst="rect">
            <a:avLst/>
          </a:prstGeom>
          <a:noFill/>
          <a:ln/>
        </p:spPr>
        <p:txBody>
          <a:bodyPr wrap="square" lIns="0" tIns="0" rIns="0" bIns="0" rtlCol="0" anchor="ctr"/>
          <a:lstStyle/>
          <a:p>
            <a:pPr indent="0" marL="0">
              <a:buNone/>
            </a:pPr>
            <a:r>
              <a:rPr lang="en-US" sz="1300" dirty="0">
                <a:solidFill>
                  <a:schemeClr val="accent6"/>
                </a:solidFill>
              </a:rPr>
              <a:t>Playwright, mobile et desktop</a:t>
            </a:r>
            <a:endParaRPr lang="en-US" sz="1300" dirty="0"/>
          </a:p>
        </p:txBody>
      </p:sp>
      <p:sp>
        <p:nvSpPr>
          <p:cNvPr id="16" name="stat-3"/>
          <p:cNvSpPr/>
          <p:nvPr/>
        </p:nvSpPr>
        <p:spPr>
          <a:xfrm>
            <a:off x="8983980" y="1920240"/>
            <a:ext cx="2606040" cy="1828800"/>
          </a:xfrm>
          <a:prstGeom prst="roundRect">
            <a:avLst>
              <a:gd name="adj" fmla="val 6000"/>
            </a:avLst>
          </a:prstGeom>
          <a:solidFill>
            <a:schemeClr val="bg2"/>
          </a:solidFill>
          <a:ln/>
        </p:spPr>
      </p:sp>
      <p:sp>
        <p:nvSpPr>
          <p:cNvPr id="17" name="Text 15"/>
          <p:cNvSpPr txBox="1"/>
          <p:nvPr/>
        </p:nvSpPr>
        <p:spPr>
          <a:xfrm>
            <a:off x="9258300" y="2011680"/>
            <a:ext cx="2103120" cy="914400"/>
          </a:xfrm>
          <a:prstGeom prst="rect">
            <a:avLst/>
          </a:prstGeom>
          <a:noFill/>
          <a:ln/>
        </p:spPr>
        <p:txBody>
          <a:bodyPr wrap="square" lIns="0" tIns="0" rIns="0" bIns="0" rtlCol="0" anchor="ctr"/>
          <a:lstStyle/>
          <a:p>
            <a:pPr indent="0" marL="0">
              <a:buNone/>
            </a:pPr>
            <a:r>
              <a:rPr lang="en-US" sz="5400" b="1" dirty="0">
                <a:solidFill>
                  <a:srgbClr val="16A34A"/>
                </a:solidFill>
              </a:rPr>
              <a:t>194</a:t>
            </a:r>
            <a:endParaRPr lang="en-US" sz="5400" dirty="0"/>
          </a:p>
        </p:txBody>
      </p:sp>
      <p:sp>
        <p:nvSpPr>
          <p:cNvPr id="18" name="Text 16"/>
          <p:cNvSpPr txBox="1"/>
          <p:nvPr/>
        </p:nvSpPr>
        <p:spPr>
          <a:xfrm>
            <a:off x="9258300" y="2880360"/>
            <a:ext cx="2194560" cy="365760"/>
          </a:xfrm>
          <a:prstGeom prst="rect">
            <a:avLst/>
          </a:prstGeom>
          <a:noFill/>
          <a:ln/>
        </p:spPr>
        <p:txBody>
          <a:bodyPr wrap="square" lIns="0" tIns="0" rIns="0" bIns="0" rtlCol="0" anchor="ctr"/>
          <a:lstStyle/>
          <a:p>
            <a:pPr indent="0" marL="0">
              <a:buNone/>
            </a:pPr>
            <a:r>
              <a:rPr lang="en-US" sz="1800" b="1" dirty="0">
                <a:solidFill>
                  <a:schemeClr val="tx1"/>
                </a:solidFill>
              </a:rPr>
              <a:t>commits</a:t>
            </a:r>
            <a:endParaRPr lang="en-US" sz="1800" dirty="0"/>
          </a:p>
        </p:txBody>
      </p:sp>
      <p:sp>
        <p:nvSpPr>
          <p:cNvPr id="19" name="Text 17"/>
          <p:cNvSpPr txBox="1"/>
          <p:nvPr/>
        </p:nvSpPr>
        <p:spPr>
          <a:xfrm>
            <a:off x="9258300" y="3246120"/>
            <a:ext cx="2194560" cy="365760"/>
          </a:xfrm>
          <a:prstGeom prst="rect">
            <a:avLst/>
          </a:prstGeom>
          <a:noFill/>
          <a:ln/>
        </p:spPr>
        <p:txBody>
          <a:bodyPr wrap="square" lIns="0" tIns="0" rIns="0" bIns="0" rtlCol="0" anchor="ctr"/>
          <a:lstStyle/>
          <a:p>
            <a:pPr indent="0" marL="0">
              <a:buNone/>
            </a:pPr>
            <a:r>
              <a:rPr lang="en-US" sz="1300" dirty="0">
                <a:solidFill>
                  <a:schemeClr val="accent6"/>
                </a:solidFill>
              </a:rPr>
              <a:t>4 développeurs, revue par PR</a:t>
            </a:r>
            <a:endParaRPr lang="en-US" sz="1300" dirty="0"/>
          </a:p>
        </p:txBody>
      </p:sp>
      <p:sp>
        <p:nvSpPr>
          <p:cNvPr id="20" name="badge-LuShieldCheck"/>
          <p:cNvSpPr/>
          <p:nvPr/>
        </p:nvSpPr>
        <p:spPr>
          <a:xfrm>
            <a:off x="548640" y="4069080"/>
            <a:ext cx="640080" cy="640080"/>
          </a:xfrm>
          <a:prstGeom prst="ellipse">
            <a:avLst/>
          </a:prstGeom>
          <a:solidFill>
            <a:schemeClr val="accent1"/>
          </a:solidFill>
          <a:ln/>
        </p:spPr>
      </p:sp>
      <p:pic>
        <p:nvPicPr>
          <p:cNvPr id="21" name="Image 0" descr="preencoded.png">    </p:cNvPr>
          <p:cNvPicPr>
            <a:picLocks noChangeAspect="1"/>
          </p:cNvPicPr>
          <p:nvPr/>
        </p:nvPicPr>
        <p:blipFill>
          <a:blip r:embed="rId1"/>
          <a:stretch>
            <a:fillRect/>
          </a:stretch>
        </p:blipFill>
        <p:spPr>
          <a:xfrm>
            <a:off x="708660" y="4229100"/>
            <a:ext cx="320040" cy="320040"/>
          </a:xfrm>
          <a:prstGeom prst="rect">
            <a:avLst/>
          </a:prstGeom>
        </p:spPr>
      </p:pic>
      <p:sp>
        <p:nvSpPr>
          <p:cNvPr id="22" name="Text 19"/>
          <p:cNvSpPr txBox="1"/>
          <p:nvPr/>
        </p:nvSpPr>
        <p:spPr>
          <a:xfrm>
            <a:off x="1371600" y="4069080"/>
            <a:ext cx="3657600" cy="640080"/>
          </a:xfrm>
          <a:prstGeom prst="rect">
            <a:avLst/>
          </a:prstGeom>
          <a:noFill/>
          <a:ln/>
        </p:spPr>
        <p:txBody>
          <a:bodyPr wrap="square" lIns="0" tIns="0" rIns="0" bIns="0" rtlCol="0" anchor="ctr"/>
          <a:lstStyle/>
          <a:p>
            <a:pPr indent="0" marL="0">
              <a:buNone/>
            </a:pPr>
            <a:r>
              <a:rPr lang="en-US" sz="2000" b="1" dirty="0">
                <a:solidFill>
                  <a:schemeClr val="tx1"/>
                </a:solidFill>
              </a:rPr>
              <a:t>Sécurité</a:t>
            </a:r>
            <a:endParaRPr lang="en-US" sz="2000" dirty="0"/>
          </a:p>
        </p:txBody>
      </p:sp>
      <p:sp>
        <p:nvSpPr>
          <p:cNvPr id="23" name="Text 20"/>
          <p:cNvSpPr txBox="1"/>
          <p:nvPr/>
        </p:nvSpPr>
        <p:spPr>
          <a:xfrm>
            <a:off x="1371600" y="4800600"/>
            <a:ext cx="4572000" cy="13258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Mots de passe hachés BCrypt, jetons JWT révocables</a:t>
            </a:r>
            <a:endParaRPr lang="en-US" sz="1400" dirty="0"/>
          </a:p>
          <a:p>
            <a:pPr marL="177800" indent="-177800">
              <a:spcAft>
                <a:spcPts val="500"/>
              </a:spcAft>
              <a:buSzPct val="100000"/>
              <a:buChar char="•"/>
            </a:pPr>
            <a:r>
              <a:rPr lang="en-US" sz="1400" dirty="0">
                <a:solidFill>
                  <a:schemeClr val="tx1"/>
                </a:solidFill>
              </a:rPr>
              <a:t>Compte bloqué après 3 échecs, déblocage par la gestion</a:t>
            </a:r>
            <a:endParaRPr lang="en-US" sz="1400" dirty="0"/>
          </a:p>
          <a:p>
            <a:pPr marL="177800" indent="-177800">
              <a:spcAft>
                <a:spcPts val="500"/>
              </a:spcAft>
              <a:buSzPct val="100000"/>
              <a:buChar char="•"/>
            </a:pPr>
            <a:r>
              <a:rPr lang="en-US" sz="1400" dirty="0">
                <a:solidFill>
                  <a:schemeClr val="tx1"/>
                </a:solidFill>
              </a:rPr>
              <a:t>Paiement revalidé auprès de PayDunya, aucune donnée bancaire stockée</a:t>
            </a:r>
            <a:endParaRPr lang="en-US" sz="1400" dirty="0"/>
          </a:p>
        </p:txBody>
      </p:sp>
      <p:sp>
        <p:nvSpPr>
          <p:cNvPr id="24" name="badge-LuGitBranch"/>
          <p:cNvSpPr/>
          <p:nvPr/>
        </p:nvSpPr>
        <p:spPr>
          <a:xfrm>
            <a:off x="6172200" y="4069080"/>
            <a:ext cx="640080" cy="640080"/>
          </a:xfrm>
          <a:prstGeom prst="ellipse">
            <a:avLst/>
          </a:prstGeom>
          <a:solidFill>
            <a:schemeClr val="accent1"/>
          </a:solidFill>
          <a:ln/>
        </p:spPr>
      </p:sp>
      <p:pic>
        <p:nvPicPr>
          <p:cNvPr id="25" name="Image 1" descr="preencoded.png">    </p:cNvPr>
          <p:cNvPicPr>
            <a:picLocks noChangeAspect="1"/>
          </p:cNvPicPr>
          <p:nvPr/>
        </p:nvPicPr>
        <p:blipFill>
          <a:blip r:embed="rId2"/>
          <a:stretch>
            <a:fillRect/>
          </a:stretch>
        </p:blipFill>
        <p:spPr>
          <a:xfrm>
            <a:off x="6332220" y="4229100"/>
            <a:ext cx="320040" cy="320040"/>
          </a:xfrm>
          <a:prstGeom prst="rect">
            <a:avLst/>
          </a:prstGeom>
        </p:spPr>
      </p:pic>
      <p:sp>
        <p:nvSpPr>
          <p:cNvPr id="26" name="Text 22"/>
          <p:cNvSpPr txBox="1"/>
          <p:nvPr/>
        </p:nvSpPr>
        <p:spPr>
          <a:xfrm>
            <a:off x="6995160" y="4069080"/>
            <a:ext cx="3657600" cy="640080"/>
          </a:xfrm>
          <a:prstGeom prst="rect">
            <a:avLst/>
          </a:prstGeom>
          <a:noFill/>
          <a:ln/>
        </p:spPr>
        <p:txBody>
          <a:bodyPr wrap="square" lIns="0" tIns="0" rIns="0" bIns="0" rtlCol="0" anchor="ctr"/>
          <a:lstStyle/>
          <a:p>
            <a:pPr indent="0" marL="0">
              <a:buNone/>
            </a:pPr>
            <a:r>
              <a:rPr lang="en-US" sz="2000" b="1" dirty="0">
                <a:solidFill>
                  <a:schemeClr val="tx1"/>
                </a:solidFill>
              </a:rPr>
              <a:t>Méthode</a:t>
            </a:r>
            <a:endParaRPr lang="en-US" sz="2000" dirty="0"/>
          </a:p>
        </p:txBody>
      </p:sp>
      <p:sp>
        <p:nvSpPr>
          <p:cNvPr id="27" name="Text 23"/>
          <p:cNvSpPr txBox="1"/>
          <p:nvPr/>
        </p:nvSpPr>
        <p:spPr>
          <a:xfrm>
            <a:off x="6995160" y="4800600"/>
            <a:ext cx="4572000" cy="13258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Revue humaine obligatoire sur l'authentification et le paiement</a:t>
            </a:r>
            <a:endParaRPr lang="en-US" sz="1400" dirty="0"/>
          </a:p>
          <a:p>
            <a:pPr marL="177800" indent="-177800">
              <a:spcAft>
                <a:spcPts val="500"/>
              </a:spcAft>
              <a:buSzPct val="100000"/>
              <a:buChar char="•"/>
            </a:pPr>
            <a:r>
              <a:rPr lang="en-US" sz="1400" dirty="0">
                <a:solidFill>
                  <a:schemeClr val="tx1"/>
                </a:solidFill>
              </a:rPr>
              <a:t>Secrets injectés par l'environnement, jamais dans le dépôt</a:t>
            </a:r>
            <a:endParaRPr lang="en-US" sz="1400" dirty="0"/>
          </a:p>
          <a:p>
            <a:pPr marL="177800" indent="-177800">
              <a:spcAft>
                <a:spcPts val="500"/>
              </a:spcAft>
              <a:buSzPct val="100000"/>
              <a:buChar char="•"/>
            </a:pPr>
            <a:r>
              <a:rPr lang="en-US" sz="1400" dirty="0">
                <a:solidFill>
                  <a:schemeClr val="tx1"/>
                </a:solidFill>
              </a:rPr>
              <a:t>Commits conventionnels, travail jamais laissé non commité</a:t>
            </a:r>
            <a:endParaRPr lang="en-US" sz="1400" dirty="0"/>
          </a:p>
        </p:txBody>
      </p:sp>
      <p:sp>
        <p:nvSpPr>
          <p:cNvPr id="25" name="Slide Number Placeholder 0"/>
          <p:cNvSpPr>
            <a:spLocks noGrp="1"/>
          </p:cNvSpPr>
          <p:nvPr>
            <p:ph type="sldNum" sz="quarter" idx="4294967295"/>
          </p:nvPr>
        </p:nvSpPr>
        <p:spPr>
          <a:xfrm>
            <a:off x="11155680" y="6327648"/>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502920"/>
            <a:ext cx="10972800" cy="777240"/>
          </a:xfrm>
          <a:prstGeom prst="rect">
            <a:avLst/>
          </a:prstGeom>
          <a:noFill/>
          <a:ln/>
        </p:spPr>
        <p:txBody>
          <a:bodyPr wrap="square" lIns="0" tIns="0" rIns="0" bIns="0" rtlCol="0" anchor="ctr"/>
          <a:lstStyle/>
          <a:p>
            <a:pPr indent="0" marL="0">
              <a:buNone/>
            </a:pPr>
            <a:r>
              <a:rPr lang="en-US" sz="4000" b="1" dirty="0">
                <a:solidFill>
                  <a:schemeClr val="bg1"/>
                </a:solidFill>
              </a:rPr>
              <a:t>Bilan et prochaines étapes</a:t>
            </a:r>
            <a:endParaRPr lang="en-US" sz="4000" dirty="0"/>
          </a:p>
        </p:txBody>
      </p:sp>
      <p:sp>
        <p:nvSpPr>
          <p:cNvPr id="3" name="Text 1"/>
          <p:cNvSpPr txBox="1"/>
          <p:nvPr/>
        </p:nvSpPr>
        <p:spPr>
          <a:xfrm>
            <a:off x="640080" y="1554480"/>
            <a:ext cx="5029200" cy="457200"/>
          </a:xfrm>
          <a:prstGeom prst="rect">
            <a:avLst/>
          </a:prstGeom>
          <a:noFill/>
          <a:ln/>
        </p:spPr>
        <p:txBody>
          <a:bodyPr wrap="square" lIns="0" tIns="0" rIns="0" bIns="0" rtlCol="0" anchor="ctr"/>
          <a:lstStyle/>
          <a:p>
            <a:pPr indent="0" marL="0">
              <a:buNone/>
            </a:pPr>
            <a:r>
              <a:rPr lang="en-US" sz="2200" b="1" dirty="0">
                <a:solidFill>
                  <a:schemeClr val="accent2"/>
                </a:solidFill>
              </a:rPr>
              <a:t>Livré</a:t>
            </a:r>
            <a:endParaRPr lang="en-US" sz="2200" dirty="0"/>
          </a:p>
        </p:txBody>
      </p:sp>
      <p:pic>
        <p:nvPicPr>
          <p:cNvPr id="4" name="Image 0" descr="preencoded.png">    </p:cNvPr>
          <p:cNvPicPr>
            <a:picLocks noChangeAspect="1"/>
          </p:cNvPicPr>
          <p:nvPr/>
        </p:nvPicPr>
        <p:blipFill>
          <a:blip r:embed="rId1"/>
          <a:stretch>
            <a:fillRect/>
          </a:stretch>
        </p:blipFill>
        <p:spPr>
          <a:xfrm>
            <a:off x="640080" y="2148840"/>
            <a:ext cx="292608" cy="292608"/>
          </a:xfrm>
          <a:prstGeom prst="rect">
            <a:avLst/>
          </a:prstGeom>
        </p:spPr>
      </p:pic>
      <p:sp>
        <p:nvSpPr>
          <p:cNvPr id="5" name="Text 2"/>
          <p:cNvSpPr txBox="1"/>
          <p:nvPr/>
        </p:nvSpPr>
        <p:spPr>
          <a:xfrm>
            <a:off x="1097280" y="2103120"/>
            <a:ext cx="4754880" cy="384048"/>
          </a:xfrm>
          <a:prstGeom prst="rect">
            <a:avLst/>
          </a:prstGeom>
          <a:noFill/>
          <a:ln/>
        </p:spPr>
        <p:txBody>
          <a:bodyPr wrap="square" lIns="0" tIns="0" rIns="0" bIns="0" rtlCol="0" anchor="ctr"/>
          <a:lstStyle/>
          <a:p>
            <a:pPr indent="0" marL="0">
              <a:buNone/>
            </a:pPr>
            <a:r>
              <a:rPr lang="en-US" sz="1700" dirty="0">
                <a:solidFill>
                  <a:schemeClr val="bg1"/>
                </a:solidFill>
              </a:rPr>
              <a:t>Comptes, rôles et sécurité</a:t>
            </a:r>
            <a:endParaRPr lang="en-US" sz="1700" dirty="0"/>
          </a:p>
        </p:txBody>
      </p:sp>
      <p:pic>
        <p:nvPicPr>
          <p:cNvPr id="6" name="Image 1" descr="preencoded.png">    </p:cNvPr>
          <p:cNvPicPr>
            <a:picLocks noChangeAspect="1"/>
          </p:cNvPicPr>
          <p:nvPr/>
        </p:nvPicPr>
        <p:blipFill>
          <a:blip r:embed="rId2"/>
          <a:stretch>
            <a:fillRect/>
          </a:stretch>
        </p:blipFill>
        <p:spPr>
          <a:xfrm>
            <a:off x="640080" y="2679192"/>
            <a:ext cx="292608" cy="292608"/>
          </a:xfrm>
          <a:prstGeom prst="rect">
            <a:avLst/>
          </a:prstGeom>
        </p:spPr>
      </p:pic>
      <p:sp>
        <p:nvSpPr>
          <p:cNvPr id="7" name="Text 3"/>
          <p:cNvSpPr txBox="1"/>
          <p:nvPr/>
        </p:nvSpPr>
        <p:spPr>
          <a:xfrm>
            <a:off x="1097280" y="2633472"/>
            <a:ext cx="4754880" cy="384048"/>
          </a:xfrm>
          <a:prstGeom prst="rect">
            <a:avLst/>
          </a:prstGeom>
          <a:noFill/>
          <a:ln/>
        </p:spPr>
        <p:txBody>
          <a:bodyPr wrap="square" lIns="0" tIns="0" rIns="0" bIns="0" rtlCol="0" anchor="ctr"/>
          <a:lstStyle/>
          <a:p>
            <a:pPr indent="0" marL="0">
              <a:buNone/>
            </a:pPr>
            <a:r>
              <a:rPr lang="en-US" sz="1700" dirty="0">
                <a:solidFill>
                  <a:schemeClr val="bg1"/>
                </a:solidFill>
              </a:rPr>
              <a:t>Catalogue, panier et paiement PayDunya</a:t>
            </a:r>
            <a:endParaRPr lang="en-US" sz="1700" dirty="0"/>
          </a:p>
        </p:txBody>
      </p:sp>
      <p:pic>
        <p:nvPicPr>
          <p:cNvPr id="8" name="Image 2" descr="preencoded.png">    </p:cNvPr>
          <p:cNvPicPr>
            <a:picLocks noChangeAspect="1"/>
          </p:cNvPicPr>
          <p:nvPr/>
        </p:nvPicPr>
        <p:blipFill>
          <a:blip r:embed="rId3"/>
          <a:stretch>
            <a:fillRect/>
          </a:stretch>
        </p:blipFill>
        <p:spPr>
          <a:xfrm>
            <a:off x="640080" y="3209544"/>
            <a:ext cx="292608" cy="292608"/>
          </a:xfrm>
          <a:prstGeom prst="rect">
            <a:avLst/>
          </a:prstGeom>
        </p:spPr>
      </p:pic>
      <p:sp>
        <p:nvSpPr>
          <p:cNvPr id="9" name="Text 4"/>
          <p:cNvSpPr txBox="1"/>
          <p:nvPr/>
        </p:nvSpPr>
        <p:spPr>
          <a:xfrm>
            <a:off x="1097280" y="3163824"/>
            <a:ext cx="4754880" cy="384048"/>
          </a:xfrm>
          <a:prstGeom prst="rect">
            <a:avLst/>
          </a:prstGeom>
          <a:noFill/>
          <a:ln/>
        </p:spPr>
        <p:txBody>
          <a:bodyPr wrap="square" lIns="0" tIns="0" rIns="0" bIns="0" rtlCol="0" anchor="ctr"/>
          <a:lstStyle/>
          <a:p>
            <a:pPr indent="0" marL="0">
              <a:buNone/>
            </a:pPr>
            <a:r>
              <a:rPr lang="en-US" sz="1700" dirty="0">
                <a:solidFill>
                  <a:schemeClr val="bg1"/>
                </a:solidFill>
              </a:rPr>
              <a:t>Collecte hors ligne et validation</a:t>
            </a:r>
            <a:endParaRPr lang="en-US" sz="1700" dirty="0"/>
          </a:p>
        </p:txBody>
      </p:sp>
      <p:pic>
        <p:nvPicPr>
          <p:cNvPr id="10" name="Image 3" descr="preencoded.png">    </p:cNvPr>
          <p:cNvPicPr>
            <a:picLocks noChangeAspect="1"/>
          </p:cNvPicPr>
          <p:nvPr/>
        </p:nvPicPr>
        <p:blipFill>
          <a:blip r:embed="rId4"/>
          <a:stretch>
            <a:fillRect/>
          </a:stretch>
        </p:blipFill>
        <p:spPr>
          <a:xfrm>
            <a:off x="640080" y="3739896"/>
            <a:ext cx="292608" cy="292608"/>
          </a:xfrm>
          <a:prstGeom prst="rect">
            <a:avLst/>
          </a:prstGeom>
        </p:spPr>
      </p:pic>
      <p:sp>
        <p:nvSpPr>
          <p:cNvPr id="11" name="Text 5"/>
          <p:cNvSpPr txBox="1"/>
          <p:nvPr/>
        </p:nvSpPr>
        <p:spPr>
          <a:xfrm>
            <a:off x="1097280" y="3694176"/>
            <a:ext cx="4754880" cy="384048"/>
          </a:xfrm>
          <a:prstGeom prst="rect">
            <a:avLst/>
          </a:prstGeom>
          <a:noFill/>
          <a:ln/>
        </p:spPr>
        <p:txBody>
          <a:bodyPr wrap="square" lIns="0" tIns="0" rIns="0" bIns="0" rtlCol="0" anchor="ctr"/>
          <a:lstStyle/>
          <a:p>
            <a:pPr indent="0" marL="0">
              <a:buNone/>
            </a:pPr>
            <a:r>
              <a:rPr lang="en-US" sz="1700" dirty="0">
                <a:solidFill>
                  <a:schemeClr val="bg1"/>
                </a:solidFill>
              </a:rPr>
              <a:t>Stock de matière et de produits</a:t>
            </a:r>
            <a:endParaRPr lang="en-US" sz="1700" dirty="0"/>
          </a:p>
        </p:txBody>
      </p:sp>
      <p:pic>
        <p:nvPicPr>
          <p:cNvPr id="12" name="Image 4" descr="preencoded.png">    </p:cNvPr>
          <p:cNvPicPr>
            <a:picLocks noChangeAspect="1"/>
          </p:cNvPicPr>
          <p:nvPr/>
        </p:nvPicPr>
        <p:blipFill>
          <a:blip r:embed="rId5"/>
          <a:stretch>
            <a:fillRect/>
          </a:stretch>
        </p:blipFill>
        <p:spPr>
          <a:xfrm>
            <a:off x="640080" y="4270248"/>
            <a:ext cx="292608" cy="292608"/>
          </a:xfrm>
          <a:prstGeom prst="rect">
            <a:avLst/>
          </a:prstGeom>
        </p:spPr>
      </p:pic>
      <p:sp>
        <p:nvSpPr>
          <p:cNvPr id="13" name="Text 6"/>
          <p:cNvSpPr txBox="1"/>
          <p:nvPr/>
        </p:nvSpPr>
        <p:spPr>
          <a:xfrm>
            <a:off x="1097280" y="4224528"/>
            <a:ext cx="4754880" cy="384048"/>
          </a:xfrm>
          <a:prstGeom prst="rect">
            <a:avLst/>
          </a:prstGeom>
          <a:noFill/>
          <a:ln/>
        </p:spPr>
        <p:txBody>
          <a:bodyPr wrap="square" lIns="0" tIns="0" rIns="0" bIns="0" rtlCol="0" anchor="ctr"/>
          <a:lstStyle/>
          <a:p>
            <a:pPr indent="0" marL="0">
              <a:buNone/>
            </a:pPr>
            <a:r>
              <a:rPr lang="en-US" sz="1700" dirty="0">
                <a:solidFill>
                  <a:schemeClr val="bg1"/>
                </a:solidFill>
              </a:rPr>
              <a:t>Notre impact et Communauté</a:t>
            </a:r>
            <a:endParaRPr lang="en-US" sz="1700" dirty="0"/>
          </a:p>
        </p:txBody>
      </p:sp>
      <p:pic>
        <p:nvPicPr>
          <p:cNvPr id="14" name="Image 5" descr="preencoded.png">    </p:cNvPr>
          <p:cNvPicPr>
            <a:picLocks noChangeAspect="1"/>
          </p:cNvPicPr>
          <p:nvPr/>
        </p:nvPicPr>
        <p:blipFill>
          <a:blip r:embed="rId6"/>
          <a:stretch>
            <a:fillRect/>
          </a:stretch>
        </p:blipFill>
        <p:spPr>
          <a:xfrm>
            <a:off x="640080" y="4800600"/>
            <a:ext cx="292608" cy="292608"/>
          </a:xfrm>
          <a:prstGeom prst="rect">
            <a:avLst/>
          </a:prstGeom>
        </p:spPr>
      </p:pic>
      <p:sp>
        <p:nvSpPr>
          <p:cNvPr id="15" name="Text 7"/>
          <p:cNvSpPr txBox="1"/>
          <p:nvPr/>
        </p:nvSpPr>
        <p:spPr>
          <a:xfrm>
            <a:off x="1097280" y="4754880"/>
            <a:ext cx="4754880" cy="384048"/>
          </a:xfrm>
          <a:prstGeom prst="rect">
            <a:avLst/>
          </a:prstGeom>
          <a:noFill/>
          <a:ln/>
        </p:spPr>
        <p:txBody>
          <a:bodyPr wrap="square" lIns="0" tIns="0" rIns="0" bIns="0" rtlCol="0" anchor="ctr"/>
          <a:lstStyle/>
          <a:p>
            <a:pPr indent="0" marL="0">
              <a:buNone/>
            </a:pPr>
            <a:r>
              <a:rPr lang="en-US" sz="1700" dirty="0">
                <a:solidFill>
                  <a:schemeClr val="bg1"/>
                </a:solidFill>
              </a:rPr>
              <a:t>Signalements et points de récompense</a:t>
            </a:r>
            <a:endParaRPr lang="en-US" sz="1700" dirty="0"/>
          </a:p>
        </p:txBody>
      </p:sp>
      <p:sp>
        <p:nvSpPr>
          <p:cNvPr id="16" name="Text 8"/>
          <p:cNvSpPr txBox="1"/>
          <p:nvPr/>
        </p:nvSpPr>
        <p:spPr>
          <a:xfrm>
            <a:off x="6400800" y="1554480"/>
            <a:ext cx="5029200" cy="457200"/>
          </a:xfrm>
          <a:prstGeom prst="rect">
            <a:avLst/>
          </a:prstGeom>
          <a:noFill/>
          <a:ln/>
        </p:spPr>
        <p:txBody>
          <a:bodyPr wrap="square" lIns="0" tIns="0" rIns="0" bIns="0" rtlCol="0" anchor="ctr"/>
          <a:lstStyle/>
          <a:p>
            <a:pPr indent="0" marL="0">
              <a:buNone/>
            </a:pPr>
            <a:r>
              <a:rPr lang="en-US" sz="2200" b="1" dirty="0">
                <a:solidFill>
                  <a:srgbClr val="F59E0B"/>
                </a:solidFill>
              </a:rPr>
              <a:t>À venir</a:t>
            </a:r>
            <a:endParaRPr lang="en-US" sz="2200" dirty="0"/>
          </a:p>
        </p:txBody>
      </p:sp>
      <p:pic>
        <p:nvPicPr>
          <p:cNvPr id="17" name="Image 6" descr="preencoded.png">    </p:cNvPr>
          <p:cNvPicPr>
            <a:picLocks noChangeAspect="1"/>
          </p:cNvPicPr>
          <p:nvPr/>
        </p:nvPicPr>
        <p:blipFill>
          <a:blip r:embed="rId7"/>
          <a:stretch>
            <a:fillRect/>
          </a:stretch>
        </p:blipFill>
        <p:spPr>
          <a:xfrm>
            <a:off x="6400800" y="2148840"/>
            <a:ext cx="292608" cy="292608"/>
          </a:xfrm>
          <a:prstGeom prst="rect">
            <a:avLst/>
          </a:prstGeom>
        </p:spPr>
      </p:pic>
      <p:sp>
        <p:nvSpPr>
          <p:cNvPr id="18" name="Text 9"/>
          <p:cNvSpPr txBox="1"/>
          <p:nvPr/>
        </p:nvSpPr>
        <p:spPr>
          <a:xfrm>
            <a:off x="6858000" y="2103120"/>
            <a:ext cx="4846320" cy="384048"/>
          </a:xfrm>
          <a:prstGeom prst="rect">
            <a:avLst/>
          </a:prstGeom>
          <a:noFill/>
          <a:ln/>
        </p:spPr>
        <p:txBody>
          <a:bodyPr wrap="square" lIns="0" tIns="0" rIns="0" bIns="0" rtlCol="0" anchor="ctr"/>
          <a:lstStyle/>
          <a:p>
            <a:pPr indent="0" marL="0">
              <a:buNone/>
            </a:pPr>
            <a:r>
              <a:rPr lang="en-US" sz="1700" dirty="0">
                <a:solidFill>
                  <a:schemeClr val="bg1"/>
                </a:solidFill>
              </a:rPr>
              <a:t>Valider PayDunya en conditions réelles</a:t>
            </a:r>
            <a:endParaRPr lang="en-US" sz="1700" dirty="0"/>
          </a:p>
        </p:txBody>
      </p:sp>
      <p:pic>
        <p:nvPicPr>
          <p:cNvPr id="19" name="Image 7" descr="preencoded.png">    </p:cNvPr>
          <p:cNvPicPr>
            <a:picLocks noChangeAspect="1"/>
          </p:cNvPicPr>
          <p:nvPr/>
        </p:nvPicPr>
        <p:blipFill>
          <a:blip r:embed="rId8"/>
          <a:stretch>
            <a:fillRect/>
          </a:stretch>
        </p:blipFill>
        <p:spPr>
          <a:xfrm>
            <a:off x="6400800" y="2679192"/>
            <a:ext cx="292608" cy="292608"/>
          </a:xfrm>
          <a:prstGeom prst="rect">
            <a:avLst/>
          </a:prstGeom>
        </p:spPr>
      </p:pic>
      <p:sp>
        <p:nvSpPr>
          <p:cNvPr id="20" name="Text 10"/>
          <p:cNvSpPr txBox="1"/>
          <p:nvPr/>
        </p:nvSpPr>
        <p:spPr>
          <a:xfrm>
            <a:off x="6858000" y="2633472"/>
            <a:ext cx="4846320" cy="384048"/>
          </a:xfrm>
          <a:prstGeom prst="rect">
            <a:avLst/>
          </a:prstGeom>
          <a:noFill/>
          <a:ln/>
        </p:spPr>
        <p:txBody>
          <a:bodyPr wrap="square" lIns="0" tIns="0" rIns="0" bIns="0" rtlCol="0" anchor="ctr"/>
          <a:lstStyle/>
          <a:p>
            <a:pPr indent="0" marL="0">
              <a:buNone/>
            </a:pPr>
            <a:r>
              <a:rPr lang="en-US" sz="1700" dirty="0">
                <a:solidFill>
                  <a:schemeClr val="bg1"/>
                </a:solidFill>
              </a:rPr>
              <a:t>Intégrer les photos du catalogue 2026</a:t>
            </a:r>
            <a:endParaRPr lang="en-US" sz="1700" dirty="0"/>
          </a:p>
        </p:txBody>
      </p:sp>
      <p:pic>
        <p:nvPicPr>
          <p:cNvPr id="21" name="Image 8" descr="preencoded.png">    </p:cNvPr>
          <p:cNvPicPr>
            <a:picLocks noChangeAspect="1"/>
          </p:cNvPicPr>
          <p:nvPr/>
        </p:nvPicPr>
        <p:blipFill>
          <a:blip r:embed="rId9"/>
          <a:stretch>
            <a:fillRect/>
          </a:stretch>
        </p:blipFill>
        <p:spPr>
          <a:xfrm>
            <a:off x="6400800" y="3209544"/>
            <a:ext cx="292608" cy="292608"/>
          </a:xfrm>
          <a:prstGeom prst="rect">
            <a:avLst/>
          </a:prstGeom>
        </p:spPr>
      </p:pic>
      <p:sp>
        <p:nvSpPr>
          <p:cNvPr id="22" name="Text 11"/>
          <p:cNvSpPr txBox="1"/>
          <p:nvPr/>
        </p:nvSpPr>
        <p:spPr>
          <a:xfrm>
            <a:off x="6858000" y="3163824"/>
            <a:ext cx="4846320" cy="384048"/>
          </a:xfrm>
          <a:prstGeom prst="rect">
            <a:avLst/>
          </a:prstGeom>
          <a:noFill/>
          <a:ln/>
        </p:spPr>
        <p:txBody>
          <a:bodyPr wrap="square" lIns="0" tIns="0" rIns="0" bIns="0" rtlCol="0" anchor="ctr"/>
          <a:lstStyle/>
          <a:p>
            <a:pPr indent="0" marL="0">
              <a:buNone/>
            </a:pPr>
            <a:r>
              <a:rPr lang="en-US" sz="1700" dirty="0">
                <a:solidFill>
                  <a:schemeClr val="bg1"/>
                </a:solidFill>
              </a:rPr>
              <a:t>Confirmer l'unité des collectes (kg)</a:t>
            </a:r>
            <a:endParaRPr lang="en-US" sz="1700" dirty="0"/>
          </a:p>
        </p:txBody>
      </p:sp>
      <p:pic>
        <p:nvPicPr>
          <p:cNvPr id="23" name="Image 9" descr="preencoded.png">    </p:cNvPr>
          <p:cNvPicPr>
            <a:picLocks noChangeAspect="1"/>
          </p:cNvPicPr>
          <p:nvPr/>
        </p:nvPicPr>
        <p:blipFill>
          <a:blip r:embed="rId10"/>
          <a:stretch>
            <a:fillRect/>
          </a:stretch>
        </p:blipFill>
        <p:spPr>
          <a:xfrm>
            <a:off x="6400800" y="3739896"/>
            <a:ext cx="292608" cy="292608"/>
          </a:xfrm>
          <a:prstGeom prst="rect">
            <a:avLst/>
          </a:prstGeom>
        </p:spPr>
      </p:pic>
      <p:sp>
        <p:nvSpPr>
          <p:cNvPr id="24" name="Text 12"/>
          <p:cNvSpPr txBox="1"/>
          <p:nvPr/>
        </p:nvSpPr>
        <p:spPr>
          <a:xfrm>
            <a:off x="6858000" y="3694176"/>
            <a:ext cx="4846320" cy="384048"/>
          </a:xfrm>
          <a:prstGeom prst="rect">
            <a:avLst/>
          </a:prstGeom>
          <a:noFill/>
          <a:ln/>
        </p:spPr>
        <p:txBody>
          <a:bodyPr wrap="square" lIns="0" tIns="0" rIns="0" bIns="0" rtlCol="0" anchor="ctr"/>
          <a:lstStyle/>
          <a:p>
            <a:pPr indent="0" marL="0">
              <a:buNone/>
            </a:pPr>
            <a:r>
              <a:rPr lang="en-US" sz="1700" dirty="0">
                <a:solidFill>
                  <a:schemeClr val="bg1"/>
                </a:solidFill>
              </a:rPr>
              <a:t>Dérouler la checklist de mise en production</a:t>
            </a:r>
            <a:endParaRPr lang="en-US" sz="1700" dirty="0"/>
          </a:p>
        </p:txBody>
      </p:sp>
      <p:pic>
        <p:nvPicPr>
          <p:cNvPr id="25" name="Image 10" descr="preencoded.png">    </p:cNvPr>
          <p:cNvPicPr>
            <a:picLocks noChangeAspect="1"/>
          </p:cNvPicPr>
          <p:nvPr/>
        </p:nvPicPr>
        <p:blipFill>
          <a:blip r:embed="rId11"/>
          <a:stretch>
            <a:fillRect/>
          </a:stretch>
        </p:blipFill>
        <p:spPr>
          <a:xfrm>
            <a:off x="6400800" y="4270248"/>
            <a:ext cx="292608" cy="292608"/>
          </a:xfrm>
          <a:prstGeom prst="rect">
            <a:avLst/>
          </a:prstGeom>
        </p:spPr>
      </p:pic>
      <p:sp>
        <p:nvSpPr>
          <p:cNvPr id="26" name="Text 13"/>
          <p:cNvSpPr txBox="1"/>
          <p:nvPr/>
        </p:nvSpPr>
        <p:spPr>
          <a:xfrm>
            <a:off x="6858000" y="4224528"/>
            <a:ext cx="4846320" cy="384048"/>
          </a:xfrm>
          <a:prstGeom prst="rect">
            <a:avLst/>
          </a:prstGeom>
          <a:noFill/>
          <a:ln/>
        </p:spPr>
        <p:txBody>
          <a:bodyPr wrap="square" lIns="0" tIns="0" rIns="0" bIns="0" rtlCol="0" anchor="ctr"/>
          <a:lstStyle/>
          <a:p>
            <a:pPr indent="0" marL="0">
              <a:buNone/>
            </a:pPr>
            <a:r>
              <a:rPr lang="en-US" sz="1700" dirty="0">
                <a:solidFill>
                  <a:schemeClr val="bg1"/>
                </a:solidFill>
              </a:rPr>
              <a:t>Itération 2 : pilier Formation</a:t>
            </a:r>
            <a:endParaRPr lang="en-US" sz="1700" dirty="0"/>
          </a:p>
        </p:txBody>
      </p:sp>
      <p:sp>
        <p:nvSpPr>
          <p:cNvPr id="27" name="Text 14"/>
          <p:cNvSpPr txBox="1"/>
          <p:nvPr/>
        </p:nvSpPr>
        <p:spPr>
          <a:xfrm>
            <a:off x="640080" y="5486400"/>
            <a:ext cx="6858000" cy="548640"/>
          </a:xfrm>
          <a:prstGeom prst="rect">
            <a:avLst/>
          </a:prstGeom>
          <a:noFill/>
          <a:ln/>
        </p:spPr>
        <p:txBody>
          <a:bodyPr wrap="square" lIns="0" tIns="0" rIns="0" bIns="0" rtlCol="0" anchor="ctr"/>
          <a:lstStyle/>
          <a:p>
            <a:pPr indent="0" marL="0">
              <a:buNone/>
            </a:pPr>
            <a:r>
              <a:rPr lang="en-US" sz="2600" b="1" dirty="0">
                <a:solidFill>
                  <a:schemeClr val="bg1"/>
                </a:solidFill>
              </a:rPr>
              <a:t>Merci. Place à la démonstration</a:t>
            </a:r>
            <a:endParaRPr lang="en-US" sz="2600" dirty="0"/>
          </a:p>
        </p:txBody>
      </p:sp>
      <p:sp>
        <p:nvSpPr>
          <p:cNvPr id="28" name="Text 15"/>
          <p:cNvSpPr txBox="1"/>
          <p:nvPr/>
        </p:nvSpPr>
        <p:spPr>
          <a:xfrm>
            <a:off x="7589520" y="5486400"/>
            <a:ext cx="4023360" cy="548640"/>
          </a:xfrm>
          <a:prstGeom prst="rect">
            <a:avLst/>
          </a:prstGeom>
          <a:noFill/>
          <a:ln/>
        </p:spPr>
        <p:txBody>
          <a:bodyPr wrap="square" lIns="0" tIns="0" rIns="0" bIns="0" rtlCol="0" anchor="ctr"/>
          <a:lstStyle/>
          <a:p>
            <a:pPr algn="r" indent="0" marL="0">
              <a:buNone/>
            </a:pPr>
            <a:r>
              <a:rPr lang="en-US" sz="1400" dirty="0">
                <a:solidFill>
                  <a:srgbClr val="CBD5E1"/>
                </a:solidFill>
              </a:rPr>
              <a:t>assouegroup@gmail.com · +226 72 48 00 02</a:t>
            </a:r>
            <a:endParaRPr lang="en-US" sz="1400" dirty="0"/>
          </a:p>
        </p:txBody>
      </p:sp>
      <p:sp>
        <p:nvSpPr>
          <p:cNvPr id="30" name="Text 0"/>
          <p:cNvSpPr/>
          <p:nvPr>
            <p:ph idx="100" type="title" hasCustomPrompt="1"/>
          </p:nvPr>
        </p:nvSpPr>
        <p:spPr>
          <a:xfrm>
            <a:off x="640080" y="2468880"/>
            <a:ext cx="6766560" cy="1188720"/>
          </a:xfrm>
          <a:prstGeom prst="rect">
            <a:avLst/>
          </a:prstGeom>
          <a:noFill/>
          <a:ln/>
        </p:spPr>
        <p:txBody>
          <a:bodyPr wrap="square" lIns="0" tIns="0" rIns="0" bIns="0" rtlCol="0" anchor="t"/>
          <a:lstStyle/>
          <a:p>
            <a:pPr algn="l" indent="0" marL="0">
              <a:buNone/>
            </a:pPr>
            <a:endParaRPr lang="en-US" sz="4800" dirty="0"/>
          </a:p>
        </p:txBody>
      </p:sp>
    </p:spTree>
  </p:cSld>
  <p:clrMapOvr>
    <a:masterClrMapping/>
  </p:clrMapOvr>
</p:sld>
</file>

<file path=ppt/theme/theme1.xml><?xml version="1.0" encoding="utf-8"?>
<a:theme xmlns:a="http://schemas.openxmlformats.org/drawingml/2006/main" name="AS'SOUE Vert vif">
  <a:themeElements>
    <a:clrScheme name="AS'SOUE Vert vif">
      <a:dk1>
        <a:srgbClr val="0F172A"/>
      </a:dk1>
      <a:lt1>
        <a:srgbClr val="FFFFFF"/>
      </a:lt1>
      <a:dk2>
        <a:srgbClr val="14231B"/>
      </a:dk2>
      <a:lt2>
        <a:srgbClr val="EEF2F0"/>
      </a:lt2>
      <a:accent1>
        <a:srgbClr val="15803D"/>
      </a:accent1>
      <a:accent2>
        <a:srgbClr val="22C55E"/>
      </a:accent2>
      <a:accent3>
        <a:srgbClr val="B45309"/>
      </a:accent3>
      <a:accent4>
        <a:srgbClr val="E4002B"/>
      </a:accent4>
      <a:accent5>
        <a:srgbClr val="166534"/>
      </a:accent5>
      <a:accent6>
        <a:srgbClr val="475569"/>
      </a:accent6>
      <a:hlink>
        <a:srgbClr val="15803D"/>
      </a:hlink>
      <a:folHlink>
        <a:srgbClr val="166534"/>
      </a:folHlink>
    </a:clrScheme>
    <a:fontScheme name="AS'SOUE Vert vif">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AS'SOUÉ — Présentation du projet</dc:title>
  <dc:subject>PptxGenJS Presentation</dc:subject>
  <dc:creator>Équipe AS'Soué devteam</dc:creator>
  <cp:lastModifiedBy>Équipe AS'Soué devteam</cp:lastModifiedBy>
  <cp:revision>1</cp:revision>
  <dcterms:created xsi:type="dcterms:W3CDTF">2026-10-12T11:29:30Z</dcterms:created>
  <dcterms:modified xsi:type="dcterms:W3CDTF">2026-10-12T11:29:30Z</dcterms:modified>
</cp:coreProperties>
</file>